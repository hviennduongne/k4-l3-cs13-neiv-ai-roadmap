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9f6c36bd844dca" /><Relationship Type="http://schemas.openxmlformats.org/officeDocument/2006/relationships/extended-properties" Target="/docProps/app.xml" Id="R8e9ef3c134374a54" /><Relationship Type="http://schemas.openxmlformats.org/officeDocument/2006/relationships/officeDocument" Target="/ppt/presentation.xml" Id="R10027ffc54a44ca5" /></Relationships>
</file>

<file path=ppt/presentation.xml><?xml version="1.0" encoding="utf-8"?>
<p:presentation xmlns:p="http://schemas.openxmlformats.org/presentationml/2006/main">
  <p:sldMasterIdLst>
    <p:sldMasterId xmlns:r="http://schemas.openxmlformats.org/officeDocument/2006/relationships" id="2147483648" r:id="R67359057c3994569"/>
  </p:sldMasterIdLst>
  <p:notesMasterIdLst>
    <p:notesMasterId xmlns:r="http://schemas.openxmlformats.org/officeDocument/2006/relationships" r:id="Rfc23e53a47304ca9"/>
  </p:notesMasterIdLst>
  <p:sldIdLst>
    <p:sldId xmlns:r="http://schemas.openxmlformats.org/officeDocument/2006/relationships" id="256" r:id="R113e613e538f4c6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a9f0cdf2a44562" /><Relationship Type="http://schemas.openxmlformats.org/officeDocument/2006/relationships/slideMaster" Target="/ppt/slideMasters/slideMaster1.xml" Id="R67359057c3994569" /><Relationship Type="http://schemas.openxmlformats.org/officeDocument/2006/relationships/notesMaster" Target="/ppt/notesMasters/notesMaster1.xml" Id="Rfc23e53a47304ca9" /><Relationship Type="http://schemas.openxmlformats.org/officeDocument/2006/relationships/presProps" Target="/ppt/presProps.xml" Id="R005b6007f15747b0" /><Relationship Type="http://schemas.openxmlformats.org/officeDocument/2006/relationships/tableStyles" Target="/ppt/tableStyles.xml" Id="R827590f261c34e7e" /><Relationship Type="http://schemas.openxmlformats.org/officeDocument/2006/relationships/slide" Target="/ppt/slides/slide1.xml" Id="R113e613e538f4c6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e44a8230cc41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5f6c6482c54bc1" /><Relationship Type="http://schemas.openxmlformats.org/officeDocument/2006/relationships/notesMaster" Target="/ppt/notesMasters/notesMaster1.xml" Id="R633ff15f818a44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Nội dung nguyên văn từ Neiv_CS13.xlsx, trang 5_Slide lãnh đạo, B4:B8. B5 được tách theo 3 câu để đưa vào sơ đồ lộ trình. Nguồn: docs/CS13_HoSoTinhHuong.pdf, Đề 1, trang 2–3; docs/CS13_SlideLop_AIRoadmap.pdf, slide 74 và 81–85. Tất cả số liệu hồ sơ là giả định. Ngưỡng bổ sung là đề xuất cần kiểm chứng. Tham khảo phong cách ảnh người dùng cung cấp ngày 16/10/2026: nền trắng, navy/cyan, tiêu đề lớn, khung viền mảnh, sơ đồ 3 tầng. Không dùng nội dung nghiên cứu hoặc số liệu trong ảnh tham khảo. Nền trang trí tạo bằng công cụ image_gen tích hợp, prompt: nền trình chiếu trắng 16:9, điểm chấm xanh mờ và đường cong góc phải, navy/cyan, không chữ. Nội dung và sơ đồ là đối tượng PowerPoint chỉnh sửa được.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ba3a453ef44e3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2c25ddd0de4b2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da2a0511f4438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08bd14b98664c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7442cd761447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0f140f574847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E843B6-B61C-43D7-9FBD-7BAB67C74974}"/>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1ABBC5C-17B2-4F0E-8809-25C8EFC87B1C}"/>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411941-385F-48AF-B515-E5454E635A28}"/>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E3D6E2-4016-4182-970E-36BEF2EF520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E48E3EE-DEC6-4D5B-AE03-214E763CEFA7}"/>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F55161-FB88-4AC4-8AD4-7BD2DAFA63C4}"/>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D51E05-8FF6-4F1D-A660-28944C727617}"/>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C5796B-6A50-4005-99A7-75C1D2AE8042}"/>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EC94A6-52BD-4E03-9E58-3861793D9CA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1FBADA-28B1-41D6-A016-B18F3C03C036}"/>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1f249218f943a6" /><Relationship Type="http://schemas.openxmlformats.org/officeDocument/2006/relationships/slideLayout" Target="/ppt/slideLayouts/slideLayout1.xml" Id="R4aad6d3a81a84e81" /><Relationship Type="http://schemas.openxmlformats.org/officeDocument/2006/relationships/slideLayout" Target="/ppt/slideLayouts/slideLayout2.xml" Id="Rdd3f011df2ec49cc" /><Relationship Type="http://schemas.openxmlformats.org/officeDocument/2006/relationships/slideLayout" Target="/ppt/slideLayouts/slideLayout3.xml" Id="R96093ecf2cb14b5f" /><Relationship Type="http://schemas.openxmlformats.org/officeDocument/2006/relationships/slideLayout" Target="/ppt/slideLayouts/slideLayout4.xml" Id="R42f4abd113e340e4" /><Relationship Type="http://schemas.openxmlformats.org/officeDocument/2006/relationships/slideLayout" Target="/ppt/slideLayouts/slideLayout5.xml" Id="Rebf1c90683be4a82" /><Relationship Type="http://schemas.openxmlformats.org/officeDocument/2006/relationships/slideLayout" Target="/ppt/slideLayouts/slideLayout6.xml" Id="R6fa477a077fb4a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ad6d3a81a84e81"/>
    <p:sldLayoutId xmlns:r="http://schemas.openxmlformats.org/officeDocument/2006/relationships" id="2147483650" r:id="Rdd3f011df2ec49cc"/>
    <p:sldLayoutId xmlns:r="http://schemas.openxmlformats.org/officeDocument/2006/relationships" id="2147483651" r:id="R96093ecf2cb14b5f"/>
    <p:sldLayoutId xmlns:r="http://schemas.openxmlformats.org/officeDocument/2006/relationships" id="2147483652" r:id="R42f4abd113e340e4"/>
    <p:sldLayoutId xmlns:r="http://schemas.openxmlformats.org/officeDocument/2006/relationships" id="2147483653" r:id="Rebf1c90683be4a82"/>
    <p:sldLayoutId xmlns:r="http://schemas.openxmlformats.org/officeDocument/2006/relationships" id="2147483654" r:id="R6fa477a077fb4a5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e940af2b5fd4508" /><Relationship Type="http://schemas.openxmlformats.org/officeDocument/2006/relationships/image" Target="/ppt/media/image.png" Id="R4666eeba3ef34988" /><Relationship Type="http://schemas.openxmlformats.org/officeDocument/2006/relationships/notesSlide" Target="/ppt/notesSlides/notesSlide1.xml" Id="Rab1e02c0a88f44e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7" name="">
            <a:extLst xmlns:a="http://schemas.openxmlformats.org/drawingml/2006/main">
              <a:ext uri="{FF2B5EF4-FFF2-40B4-BE49-F238E27FC236}">
                <a16:creationId xmlns:a16="http://schemas.microsoft.com/office/drawing/2014/main" id="{6EB1AF12-6923-4794-8C95-010FE4B5EB99}"/>
              </a:ext>
            </a:extLst>
          </p:cNvPr>
          <p:cNvPicPr>
            <a:picLocks xmlns:a="http://schemas.openxmlformats.org/drawingml/2006/main" noChangeAspect="1"/>
          </p:cNvPicPr>
          <p:nvPr/>
        </p:nvPicPr>
        <p:blipFill>
          <a:blip xmlns:r="http://schemas.openxmlformats.org/officeDocument/2006/relationships" xmlns:a="http://schemas.openxmlformats.org/drawingml/2006/main" r:embed="R4666eeba3ef34988"/>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course">
            <a:extLst xmlns:a="http://schemas.openxmlformats.org/drawingml/2006/main">
              <a:ext uri="{FF2B5EF4-FFF2-40B4-BE49-F238E27FC236}">
                <a16:creationId xmlns:a16="http://schemas.microsoft.com/office/drawing/2014/main" id="{7A9F45CE-B174-486D-B4D2-F13CADDB11E2}"/>
              </a:ext>
            </a:extLst>
          </p:cNvPr>
          <p:cNvSpPr>
            <a:spLocks xmlns:a="http://schemas.openxmlformats.org/drawingml/2006/main" noGrp="1"/>
          </p:cNvSpPr>
          <p:nvPr/>
        </p:nvSpPr>
        <p:spPr>
          <a:xfrm xmlns:a="http://schemas.openxmlformats.org/drawingml/2006/main">
            <a:off x="10953750" y="304800"/>
            <a:ext cx="3714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061B60"/>
                </a:solidFill>
                <a:latin typeface="Arial"/>
                <a:ea typeface="Arial"/>
                <a:cs typeface="Arial"/>
              </a:defRPr>
            </a:defPPr>
          </a:lstStyle>
          <a:p xmlns:a="http://schemas.openxmlformats.org/drawingml/2006/main">
            <a:pPr algn="r">
              <a:defRPr sz="1350" b="0">
                <a:solidFill>
                  <a:srgbClr val="061B60"/>
                </a:solidFill>
                <a:latin typeface="Arial"/>
                <a:ea typeface="Arial"/>
                <a:cs typeface="Arial"/>
              </a:defRPr>
            </a:pPr>
            <a:r>
              <a:rPr sz="1350" b="0">
                <a:solidFill>
                  <a:srgbClr val="061B60"/>
                </a:solidFill>
                <a:latin typeface="Arial"/>
                <a:ea typeface="Arial"/>
                <a:cs typeface="Arial"/>
              </a:rPr>
              <a:t>NEIV  /  LAB DAY 13</a:t>
            </a:r>
          </a:p>
        </p:txBody>
      </p:sp>
      <p:sp>
        <p:nvSpPr>
          <p:cNvPr id="3" name="title">
            <a:extLst xmlns:a="http://schemas.openxmlformats.org/drawingml/2006/main">
              <a:ext uri="{FF2B5EF4-FFF2-40B4-BE49-F238E27FC236}">
                <a16:creationId xmlns:a16="http://schemas.microsoft.com/office/drawing/2014/main" id="{783484B9-DF05-4ED5-A78D-29F2451EC40E}"/>
              </a:ext>
            </a:extLst>
          </p:cNvPr>
          <p:cNvSpPr>
            <a:spLocks xmlns:a="http://schemas.openxmlformats.org/drawingml/2006/main" noGrp="1"/>
          </p:cNvSpPr>
          <p:nvPr/>
        </p:nvSpPr>
        <p:spPr>
          <a:xfrm xmlns:a="http://schemas.openxmlformats.org/drawingml/2006/main">
            <a:off x="590550" y="647700"/>
            <a:ext cx="140493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061B60"/>
                </a:solidFill>
                <a:latin typeface="Arial"/>
                <a:ea typeface="Arial"/>
                <a:cs typeface="Arial"/>
              </a:defRPr>
            </a:defPPr>
          </a:lstStyle>
          <a:p xmlns:a="http://schemas.openxmlformats.org/drawingml/2006/main">
            <a:pPr algn="l">
              <a:defRPr sz="3600" b="1">
                <a:solidFill>
                  <a:srgbClr val="061B60"/>
                </a:solidFill>
                <a:latin typeface="Arial"/>
                <a:ea typeface="Arial"/>
                <a:cs typeface="Arial"/>
              </a:defRPr>
            </a:pPr>
            <a:r>
              <a:rPr sz="3600" b="1">
                <a:solidFill>
                  <a:srgbClr val="061B60"/>
                </a:solidFill>
                <a:latin typeface="Arial"/>
                <a:ea typeface="Arial"/>
                <a:cs typeface="Arial"/>
              </a:rPr>
              <a:t>SỔSẠCH: LỘ TRÌNH AI 12 THÁNG</a:t>
            </a:r>
          </a:p>
        </p:txBody>
      </p:sp>
      <p:sp>
        <p:nvSpPr>
          <p:cNvPr id="4" name="conclusion-border">
            <a:extLst xmlns:a="http://schemas.openxmlformats.org/drawingml/2006/main">
              <a:ext uri="{FF2B5EF4-FFF2-40B4-BE49-F238E27FC236}">
                <a16:creationId xmlns:a16="http://schemas.microsoft.com/office/drawing/2014/main" id="{5DF52453-A31C-410C-A340-0E149BA83F65}"/>
              </a:ext>
            </a:extLst>
          </p:cNvPr>
          <p:cNvSpPr>
            <a:spLocks xmlns:a="http://schemas.openxmlformats.org/drawingml/2006/main" noGrp="1"/>
          </p:cNvSpPr>
          <p:nvPr/>
        </p:nvSpPr>
        <p:spPr>
          <a:xfrm xmlns:a="http://schemas.openxmlformats.org/drawingml/2006/main">
            <a:off x="590550" y="1381125"/>
            <a:ext cx="14049375" cy="1057275"/>
          </a:xfrm>
          <a:prstGeom xmlns:a="http://schemas.openxmlformats.org/drawingml/2006/main" prst="roundRect">
            <a:avLst>
              <a:gd name="adj" fmla="val 7207"/>
            </a:avLst>
          </a:prstGeom>
          <a:solidFill xmlns:a="http://schemas.openxmlformats.org/drawingml/2006/main">
            <a:srgbClr val="F5FBFD"/>
          </a:solidFill>
          <a:ln xmlns:a="http://schemas.openxmlformats.org/drawingml/2006/main" w="11430">
            <a:solidFill>
              <a:srgbClr val="9EDBE5"/>
            </a:solidFill>
          </a:ln>
        </p:spPr>
      </p:sp>
      <p:sp>
        <p:nvSpPr>
          <p:cNvPr id="5" name="conclusion-circle">
            <a:extLst xmlns:a="http://schemas.openxmlformats.org/drawingml/2006/main">
              <a:ext uri="{FF2B5EF4-FFF2-40B4-BE49-F238E27FC236}">
                <a16:creationId xmlns:a16="http://schemas.microsoft.com/office/drawing/2014/main" id="{2B079B90-DBA3-48CC-8F48-38E6FB4D59BA}"/>
              </a:ext>
            </a:extLst>
          </p:cNvPr>
          <p:cNvSpPr>
            <a:spLocks xmlns:a="http://schemas.openxmlformats.org/drawingml/2006/main" noGrp="1"/>
          </p:cNvSpPr>
          <p:nvPr/>
        </p:nvSpPr>
        <p:spPr>
          <a:xfrm xmlns:a="http://schemas.openxmlformats.org/drawingml/2006/main">
            <a:off x="762000" y="1600200"/>
            <a:ext cx="495300" cy="495300"/>
          </a:xfrm>
          <a:prstGeom xmlns:a="http://schemas.openxmlformats.org/drawingml/2006/main" prst="ellipse">
            <a:avLst/>
          </a:prstGeom>
          <a:solidFill xmlns:a="http://schemas.openxmlformats.org/drawingml/2006/main">
            <a:srgbClr val="061B60"/>
          </a:solidFill>
          <a:ln xmlns:a="http://schemas.openxmlformats.org/drawingml/2006/main" w="0">
            <a:noFill/>
          </a:ln>
        </p:spPr>
      </p:sp>
      <p:sp>
        <p:nvSpPr>
          <p:cNvPr id="6" name="conclusion-number">
            <a:extLst xmlns:a="http://schemas.openxmlformats.org/drawingml/2006/main">
              <a:ext uri="{FF2B5EF4-FFF2-40B4-BE49-F238E27FC236}">
                <a16:creationId xmlns:a16="http://schemas.microsoft.com/office/drawing/2014/main" id="{2A124610-8E25-4DDF-ACD7-FEE65932D83B}"/>
              </a:ext>
            </a:extLst>
          </p:cNvPr>
          <p:cNvSpPr>
            <a:spLocks xmlns:a="http://schemas.openxmlformats.org/drawingml/2006/main" noGrp="1"/>
          </p:cNvSpPr>
          <p:nvPr/>
        </p:nvSpPr>
        <p:spPr>
          <a:xfrm xmlns:a="http://schemas.openxmlformats.org/drawingml/2006/main">
            <a:off x="762000" y="1714500"/>
            <a:ext cx="495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1">
                <a:solidFill>
                  <a:srgbClr val="FFFFFF"/>
                </a:solidFill>
                <a:latin typeface="Arial"/>
                <a:ea typeface="Arial"/>
                <a:cs typeface="Arial"/>
              </a:defRPr>
            </a:defPPr>
          </a:lstStyle>
          <a:p xmlns:a="http://schemas.openxmlformats.org/drawingml/2006/main">
            <a:pPr algn="ctr">
              <a:defRPr sz="1725" b="1">
                <a:solidFill>
                  <a:srgbClr val="FFFFFF"/>
                </a:solidFill>
                <a:latin typeface="Arial"/>
                <a:ea typeface="Arial"/>
                <a:cs typeface="Arial"/>
              </a:defRPr>
            </a:pPr>
            <a:r>
              <a:rPr sz="1725" b="1">
                <a:solidFill>
                  <a:srgbClr val="FFFFFF"/>
                </a:solidFill>
                <a:latin typeface="Arial"/>
                <a:ea typeface="Arial"/>
                <a:cs typeface="Arial"/>
              </a:rPr>
              <a:t>01</a:t>
            </a:r>
          </a:p>
        </p:txBody>
      </p:sp>
      <p:sp>
        <p:nvSpPr>
          <p:cNvPr id="7" name="conclusion-label">
            <a:extLst xmlns:a="http://schemas.openxmlformats.org/drawingml/2006/main">
              <a:ext uri="{FF2B5EF4-FFF2-40B4-BE49-F238E27FC236}">
                <a16:creationId xmlns:a16="http://schemas.microsoft.com/office/drawing/2014/main" id="{3E574076-DE17-4798-B4A5-546F800920C9}"/>
              </a:ext>
            </a:extLst>
          </p:cNvPr>
          <p:cNvSpPr>
            <a:spLocks xmlns:a="http://schemas.openxmlformats.org/drawingml/2006/main" noGrp="1"/>
          </p:cNvSpPr>
          <p:nvPr/>
        </p:nvSpPr>
        <p:spPr>
          <a:xfrm xmlns:a="http://schemas.openxmlformats.org/drawingml/2006/main">
            <a:off x="1428750" y="147637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009FB8"/>
                </a:solidFill>
                <a:latin typeface="Arial"/>
                <a:ea typeface="Arial"/>
                <a:cs typeface="Arial"/>
              </a:defRPr>
            </a:defPPr>
          </a:lstStyle>
          <a:p xmlns:a="http://schemas.openxmlformats.org/drawingml/2006/main">
            <a:pPr algn="l">
              <a:defRPr sz="1725" b="1">
                <a:solidFill>
                  <a:srgbClr val="009FB8"/>
                </a:solidFill>
                <a:latin typeface="Arial"/>
                <a:ea typeface="Arial"/>
                <a:cs typeface="Arial"/>
              </a:defRPr>
            </a:pPr>
            <a:r>
              <a:rPr sz="1725" b="1">
                <a:solidFill>
                  <a:srgbClr val="009FB8"/>
                </a:solidFill>
                <a:latin typeface="Arial"/>
                <a:ea typeface="Arial"/>
                <a:cs typeface="Arial"/>
              </a:rPr>
              <a:t>KẾT LUẬN</a:t>
            </a:r>
          </a:p>
        </p:txBody>
      </p:sp>
      <p:sp>
        <p:nvSpPr>
          <p:cNvPr id="8" name="conclusion">
            <a:extLst xmlns:a="http://schemas.openxmlformats.org/drawingml/2006/main">
              <a:ext uri="{FF2B5EF4-FFF2-40B4-BE49-F238E27FC236}">
                <a16:creationId xmlns:a16="http://schemas.microsoft.com/office/drawing/2014/main" id="{DE99BE04-1B32-4B93-9AD3-734797C66C45}"/>
              </a:ext>
            </a:extLst>
          </p:cNvPr>
          <p:cNvSpPr>
            <a:spLocks xmlns:a="http://schemas.openxmlformats.org/drawingml/2006/main" noGrp="1"/>
          </p:cNvSpPr>
          <p:nvPr/>
        </p:nvSpPr>
        <p:spPr>
          <a:xfrm xmlns:a="http://schemas.openxmlformats.org/drawingml/2006/main">
            <a:off x="1428750" y="1819275"/>
            <a:ext cx="12954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61B60"/>
                </a:solidFill>
                <a:latin typeface="Arial"/>
                <a:ea typeface="Arial"/>
                <a:cs typeface="Arial"/>
              </a:defRPr>
            </a:defPPr>
          </a:lstStyle>
          <a:p xmlns:a="http://schemas.openxmlformats.org/drawingml/2006/main">
            <a:pPr algn="l">
              <a:defRPr sz="1950" b="0">
                <a:solidFill>
                  <a:srgbClr val="061B60"/>
                </a:solidFill>
                <a:latin typeface="Arial"/>
                <a:ea typeface="Arial"/>
                <a:cs typeface="Arial"/>
              </a:defRPr>
            </a:pPr>
            <a:r>
              <a:rPr sz="1950" b="0">
                <a:solidFill>
                  <a:srgbClr val="061B60"/>
                </a:solidFill>
                <a:latin typeface="Arial"/>
                <a:ea typeface="Arial"/>
                <a:cs typeface="Arial"/>
              </a:rPr>
              <a:t>Đề xuất triển khai SổSạch ở Mức 1, duyệt 20% hóa đơn, mục tiêu giảm 50% giờ nhập ảnh. Chỉ lên Mức 2 khi qua cổng chất lượng, rà soát quyết định ngày 90.</a:t>
            </a:r>
          </a:p>
        </p:txBody>
      </p:sp>
      <p:sp>
        <p:nvSpPr>
          <p:cNvPr id="9" name="panel-03">
            <a:extLst xmlns:a="http://schemas.openxmlformats.org/drawingml/2006/main">
              <a:ext uri="{FF2B5EF4-FFF2-40B4-BE49-F238E27FC236}">
                <a16:creationId xmlns:a16="http://schemas.microsoft.com/office/drawing/2014/main" id="{CC3BD93B-20E3-416D-AF66-529810BF3D42}"/>
              </a:ext>
            </a:extLst>
          </p:cNvPr>
          <p:cNvSpPr>
            <a:spLocks xmlns:a="http://schemas.openxmlformats.org/drawingml/2006/main" noGrp="1"/>
          </p:cNvSpPr>
          <p:nvPr/>
        </p:nvSpPr>
        <p:spPr>
          <a:xfrm xmlns:a="http://schemas.openxmlformats.org/drawingml/2006/main">
            <a:off x="590550" y="2724150"/>
            <a:ext cx="9001125" cy="1514475"/>
          </a:xfrm>
          <a:prstGeom xmlns:a="http://schemas.openxmlformats.org/drawingml/2006/main" prst="roundRect">
            <a:avLst>
              <a:gd name="adj" fmla="val 5031"/>
            </a:avLst>
          </a:prstGeom>
          <a:solidFill xmlns:a="http://schemas.openxmlformats.org/drawingml/2006/main">
            <a:srgbClr val="FFFFFF"/>
          </a:solidFill>
          <a:ln xmlns:a="http://schemas.openxmlformats.org/drawingml/2006/main" w="11906">
            <a:solidFill>
              <a:srgbClr val="8090B7"/>
            </a:solidFill>
          </a:ln>
        </p:spPr>
      </p:sp>
      <p:sp>
        <p:nvSpPr>
          <p:cNvPr id="10" name="number-circle-03">
            <a:extLst xmlns:a="http://schemas.openxmlformats.org/drawingml/2006/main">
              <a:ext uri="{FF2B5EF4-FFF2-40B4-BE49-F238E27FC236}">
                <a16:creationId xmlns:a16="http://schemas.microsoft.com/office/drawing/2014/main" id="{900F2D25-9A51-480F-A726-2EBDAAB85EE1}"/>
              </a:ext>
            </a:extLst>
          </p:cNvPr>
          <p:cNvSpPr>
            <a:spLocks xmlns:a="http://schemas.openxmlformats.org/drawingml/2006/main" noGrp="1"/>
          </p:cNvSpPr>
          <p:nvPr/>
        </p:nvSpPr>
        <p:spPr>
          <a:xfrm xmlns:a="http://schemas.openxmlformats.org/drawingml/2006/main">
            <a:off x="742950" y="2867025"/>
            <a:ext cx="466725" cy="466725"/>
          </a:xfrm>
          <a:prstGeom xmlns:a="http://schemas.openxmlformats.org/drawingml/2006/main" prst="ellipse">
            <a:avLst/>
          </a:prstGeom>
          <a:solidFill xmlns:a="http://schemas.openxmlformats.org/drawingml/2006/main">
            <a:srgbClr val="061B60"/>
          </a:solidFill>
          <a:ln xmlns:a="http://schemas.openxmlformats.org/drawingml/2006/main" w="0">
            <a:noFill/>
          </a:ln>
        </p:spPr>
      </p:sp>
      <p:sp>
        <p:nvSpPr>
          <p:cNvPr id="11" name="number-03">
            <a:extLst xmlns:a="http://schemas.openxmlformats.org/drawingml/2006/main">
              <a:ext uri="{FF2B5EF4-FFF2-40B4-BE49-F238E27FC236}">
                <a16:creationId xmlns:a16="http://schemas.microsoft.com/office/drawing/2014/main" id="{FDE42700-8031-4656-9B43-2BD0974F185B}"/>
              </a:ext>
            </a:extLst>
          </p:cNvPr>
          <p:cNvSpPr>
            <a:spLocks xmlns:a="http://schemas.openxmlformats.org/drawingml/2006/main" noGrp="1"/>
          </p:cNvSpPr>
          <p:nvPr/>
        </p:nvSpPr>
        <p:spPr>
          <a:xfrm xmlns:a="http://schemas.openxmlformats.org/drawingml/2006/main">
            <a:off x="742950" y="2971800"/>
            <a:ext cx="466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Arial"/>
                <a:ea typeface="Arial"/>
                <a:cs typeface="Arial"/>
              </a:defRPr>
            </a:defPPr>
          </a:lstStyle>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03</a:t>
            </a:r>
          </a:p>
        </p:txBody>
      </p:sp>
      <p:sp>
        <p:nvSpPr>
          <p:cNvPr id="12" name="heading-03">
            <a:extLst xmlns:a="http://schemas.openxmlformats.org/drawingml/2006/main">
              <a:ext uri="{FF2B5EF4-FFF2-40B4-BE49-F238E27FC236}">
                <a16:creationId xmlns:a16="http://schemas.microsoft.com/office/drawing/2014/main" id="{6207A1F3-3D88-4C0F-8738-45BE6017D066}"/>
              </a:ext>
            </a:extLst>
          </p:cNvPr>
          <p:cNvSpPr>
            <a:spLocks xmlns:a="http://schemas.openxmlformats.org/drawingml/2006/main" noGrp="1"/>
          </p:cNvSpPr>
          <p:nvPr/>
        </p:nvSpPr>
        <p:spPr>
          <a:xfrm xmlns:a="http://schemas.openxmlformats.org/drawingml/2006/main">
            <a:off x="1381125" y="2847975"/>
            <a:ext cx="7715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61B60"/>
                </a:solidFill>
                <a:latin typeface="Arial"/>
                <a:ea typeface="Arial"/>
                <a:cs typeface="Arial"/>
              </a:defRPr>
            </a:defPPr>
          </a:lstStyle>
          <a:p xmlns:a="http://schemas.openxmlformats.org/drawingml/2006/main">
            <a:pPr algn="l">
              <a:defRPr sz="1800" b="1">
                <a:solidFill>
                  <a:srgbClr val="061B60"/>
                </a:solidFill>
                <a:latin typeface="Arial"/>
                <a:ea typeface="Arial"/>
                <a:cs typeface="Arial"/>
              </a:defRPr>
            </a:pPr>
            <a:r>
              <a:rPr sz="1800" b="1">
                <a:solidFill>
                  <a:srgbClr val="061B60"/>
                </a:solidFill>
                <a:latin typeface="Arial"/>
                <a:ea typeface="Arial"/>
                <a:cs typeface="Arial"/>
              </a:rPr>
              <a:t>CẦN GÌ</a:t>
            </a:r>
          </a:p>
        </p:txBody>
      </p:sp>
      <p:sp>
        <p:nvSpPr>
          <p:cNvPr id="13" name="body-03">
            <a:extLst xmlns:a="http://schemas.openxmlformats.org/drawingml/2006/main">
              <a:ext uri="{FF2B5EF4-FFF2-40B4-BE49-F238E27FC236}">
                <a16:creationId xmlns:a16="http://schemas.microsoft.com/office/drawing/2014/main" id="{669B76AA-D97A-44B6-B14B-E388583060C3}"/>
              </a:ext>
            </a:extLst>
          </p:cNvPr>
          <p:cNvSpPr>
            <a:spLocks xmlns:a="http://schemas.openxmlformats.org/drawingml/2006/main" noGrp="1"/>
          </p:cNvSpPr>
          <p:nvPr/>
        </p:nvSpPr>
        <p:spPr>
          <a:xfrm xmlns:a="http://schemas.openxmlformats.org/drawingml/2006/main">
            <a:off x="1381125" y="3219450"/>
            <a:ext cx="7981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61B60"/>
                </a:solidFill>
                <a:latin typeface="Arial"/>
                <a:ea typeface="Arial"/>
                <a:cs typeface="Arial"/>
              </a:defRPr>
            </a:defPPr>
          </a:lstStyle>
          <a:p xmlns:a="http://schemas.openxmlformats.org/drawingml/2006/main">
            <a:pPr algn="l">
              <a:defRPr sz="1725" b="0">
                <a:solidFill>
                  <a:srgbClr val="061B60"/>
                </a:solidFill>
                <a:latin typeface="Arial"/>
                <a:ea typeface="Arial"/>
                <a:cs typeface="Arial"/>
              </a:defRPr>
            </a:pPr>
            <a:r>
              <a:rPr sz="1725" b="0">
                <a:solidFill>
                  <a:srgbClr val="061B60"/>
                </a:solidFill>
                <a:latin typeface="Arial"/>
                <a:ea typeface="Arial"/>
                <a:cs typeface="Arial"/>
              </a:rPr>
              <a:t>Cần bộ đề 40 hóa đơn, quyền dùng dữ liệu và kết nối phần mềm. Chị Hạnh tối đa 3 giờ/tuần, anh Tùng hỗ trợ chấm. Công ty bố trí 60 giờ duyệt/tháng cho 12.000 hóa đơn. Mức 1: 704 đồng/việc, biên gộp 68,79% theo giả định đề.</a:t>
            </a:r>
          </a:p>
        </p:txBody>
      </p:sp>
      <p:sp>
        <p:nvSpPr>
          <p:cNvPr id="14" name="panel-04">
            <a:extLst xmlns:a="http://schemas.openxmlformats.org/drawingml/2006/main">
              <a:ext uri="{FF2B5EF4-FFF2-40B4-BE49-F238E27FC236}">
                <a16:creationId xmlns:a16="http://schemas.microsoft.com/office/drawing/2014/main" id="{F8F699BD-3188-4177-A276-7172DB142E0D}"/>
              </a:ext>
            </a:extLst>
          </p:cNvPr>
          <p:cNvSpPr>
            <a:spLocks xmlns:a="http://schemas.openxmlformats.org/drawingml/2006/main" noGrp="1"/>
          </p:cNvSpPr>
          <p:nvPr/>
        </p:nvSpPr>
        <p:spPr>
          <a:xfrm xmlns:a="http://schemas.openxmlformats.org/drawingml/2006/main">
            <a:off x="590550" y="4391025"/>
            <a:ext cx="9001125" cy="1552575"/>
          </a:xfrm>
          <a:prstGeom xmlns:a="http://schemas.openxmlformats.org/drawingml/2006/main" prst="roundRect">
            <a:avLst>
              <a:gd name="adj" fmla="val 4908"/>
            </a:avLst>
          </a:prstGeom>
          <a:solidFill xmlns:a="http://schemas.openxmlformats.org/drawingml/2006/main">
            <a:srgbClr val="FFFFFF"/>
          </a:solidFill>
          <a:ln xmlns:a="http://schemas.openxmlformats.org/drawingml/2006/main" w="11906">
            <a:solidFill>
              <a:srgbClr val="8090B7"/>
            </a:solidFill>
          </a:ln>
        </p:spPr>
      </p:sp>
      <p:sp>
        <p:nvSpPr>
          <p:cNvPr id="15" name="number-circle-04">
            <a:extLst xmlns:a="http://schemas.openxmlformats.org/drawingml/2006/main">
              <a:ext uri="{FF2B5EF4-FFF2-40B4-BE49-F238E27FC236}">
                <a16:creationId xmlns:a16="http://schemas.microsoft.com/office/drawing/2014/main" id="{16E2FFFF-729E-4EC2-A367-31BEAE365A46}"/>
              </a:ext>
            </a:extLst>
          </p:cNvPr>
          <p:cNvSpPr>
            <a:spLocks xmlns:a="http://schemas.openxmlformats.org/drawingml/2006/main" noGrp="1"/>
          </p:cNvSpPr>
          <p:nvPr/>
        </p:nvSpPr>
        <p:spPr>
          <a:xfrm xmlns:a="http://schemas.openxmlformats.org/drawingml/2006/main">
            <a:off x="742950" y="4533900"/>
            <a:ext cx="466725" cy="466725"/>
          </a:xfrm>
          <a:prstGeom xmlns:a="http://schemas.openxmlformats.org/drawingml/2006/main" prst="ellipse">
            <a:avLst/>
          </a:prstGeom>
          <a:solidFill xmlns:a="http://schemas.openxmlformats.org/drawingml/2006/main">
            <a:srgbClr val="061B60"/>
          </a:solidFill>
          <a:ln xmlns:a="http://schemas.openxmlformats.org/drawingml/2006/main" w="0">
            <a:noFill/>
          </a:ln>
        </p:spPr>
      </p:sp>
      <p:sp>
        <p:nvSpPr>
          <p:cNvPr id="16" name="number-04">
            <a:extLst xmlns:a="http://schemas.openxmlformats.org/drawingml/2006/main">
              <a:ext uri="{FF2B5EF4-FFF2-40B4-BE49-F238E27FC236}">
                <a16:creationId xmlns:a16="http://schemas.microsoft.com/office/drawing/2014/main" id="{126280BE-8C0D-4C17-9E0C-CA9D916A9B87}"/>
              </a:ext>
            </a:extLst>
          </p:cNvPr>
          <p:cNvSpPr>
            <a:spLocks xmlns:a="http://schemas.openxmlformats.org/drawingml/2006/main" noGrp="1"/>
          </p:cNvSpPr>
          <p:nvPr/>
        </p:nvSpPr>
        <p:spPr>
          <a:xfrm xmlns:a="http://schemas.openxmlformats.org/drawingml/2006/main">
            <a:off x="742950" y="4638675"/>
            <a:ext cx="466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Arial"/>
                <a:ea typeface="Arial"/>
                <a:cs typeface="Arial"/>
              </a:defRPr>
            </a:defPPr>
          </a:lstStyle>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04</a:t>
            </a:r>
          </a:p>
        </p:txBody>
      </p:sp>
      <p:sp>
        <p:nvSpPr>
          <p:cNvPr id="17" name="heading-04">
            <a:extLst xmlns:a="http://schemas.openxmlformats.org/drawingml/2006/main">
              <a:ext uri="{FF2B5EF4-FFF2-40B4-BE49-F238E27FC236}">
                <a16:creationId xmlns:a16="http://schemas.microsoft.com/office/drawing/2014/main" id="{81FBB144-F843-421E-ACAD-9D8C096D7B5D}"/>
              </a:ext>
            </a:extLst>
          </p:cNvPr>
          <p:cNvSpPr>
            <a:spLocks xmlns:a="http://schemas.openxmlformats.org/drawingml/2006/main" noGrp="1"/>
          </p:cNvSpPr>
          <p:nvPr/>
        </p:nvSpPr>
        <p:spPr>
          <a:xfrm xmlns:a="http://schemas.openxmlformats.org/drawingml/2006/main">
            <a:off x="1381125" y="4514850"/>
            <a:ext cx="7715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61B60"/>
                </a:solidFill>
                <a:latin typeface="Arial"/>
                <a:ea typeface="Arial"/>
                <a:cs typeface="Arial"/>
              </a:defRPr>
            </a:defPPr>
          </a:lstStyle>
          <a:p xmlns:a="http://schemas.openxmlformats.org/drawingml/2006/main">
            <a:pPr algn="l">
              <a:defRPr sz="1800" b="1">
                <a:solidFill>
                  <a:srgbClr val="061B60"/>
                </a:solidFill>
                <a:latin typeface="Arial"/>
                <a:ea typeface="Arial"/>
                <a:cs typeface="Arial"/>
              </a:defRPr>
            </a:pPr>
            <a:r>
              <a:rPr sz="1800" b="1">
                <a:solidFill>
                  <a:srgbClr val="061B60"/>
                </a:solidFill>
                <a:latin typeface="Arial"/>
                <a:ea typeface="Arial"/>
                <a:cs typeface="Arial"/>
              </a:rPr>
              <a:t>RỦI RO LỚN NHẤT &amp; CÁCH XỬ LÝ</a:t>
            </a:r>
          </a:p>
        </p:txBody>
      </p:sp>
      <p:sp>
        <p:nvSpPr>
          <p:cNvPr id="18" name="body-04">
            <a:extLst xmlns:a="http://schemas.openxmlformats.org/drawingml/2006/main">
              <a:ext uri="{FF2B5EF4-FFF2-40B4-BE49-F238E27FC236}">
                <a16:creationId xmlns:a16="http://schemas.microsoft.com/office/drawing/2014/main" id="{F054D139-34C6-463B-93BF-F4654D49BA95}"/>
              </a:ext>
            </a:extLst>
          </p:cNvPr>
          <p:cNvSpPr>
            <a:spLocks xmlns:a="http://schemas.openxmlformats.org/drawingml/2006/main" noGrp="1"/>
          </p:cNvSpPr>
          <p:nvPr/>
        </p:nvSpPr>
        <p:spPr>
          <a:xfrm xmlns:a="http://schemas.openxmlformats.org/drawingml/2006/main">
            <a:off x="1381125" y="4886325"/>
            <a:ext cx="79819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61B60"/>
                </a:solidFill>
                <a:latin typeface="Arial"/>
                <a:ea typeface="Arial"/>
                <a:cs typeface="Arial"/>
              </a:defRPr>
            </a:defPPr>
          </a:lstStyle>
          <a:p xmlns:a="http://schemas.openxmlformats.org/drawingml/2006/main">
            <a:pPr algn="l">
              <a:defRPr sz="1725" b="0">
                <a:solidFill>
                  <a:srgbClr val="061B60"/>
                </a:solidFill>
                <a:latin typeface="Arial"/>
                <a:ea typeface="Arial"/>
                <a:cs typeface="Arial"/>
              </a:defRPr>
            </a:pPr>
            <a:r>
              <a:rPr sz="1725" b="0">
                <a:solidFill>
                  <a:srgbClr val="061B60"/>
                </a:solidFill>
                <a:latin typeface="Arial"/>
                <a:ea typeface="Arial"/>
                <a:cs typeface="Arial"/>
              </a:rPr>
              <a:t>Sai mã số thuế hoặc tiền: ngừng tự nhập ngay. Duyệt mọi cờ và lấy mẫu. Nếu doanh thu dưới 3,71 triệu/văn phòng trong 2 tháng, với ít nhất 10 văn phòng, dừng mở rộng. Chưa đủ mẫu thì giữ thử nghiệm, lưu ý kịch bản hết tiền tháng 7.</a:t>
            </a:r>
          </a:p>
        </p:txBody>
      </p:sp>
      <p:sp>
        <p:nvSpPr>
          <p:cNvPr id="19" name="panel-05">
            <a:extLst xmlns:a="http://schemas.openxmlformats.org/drawingml/2006/main">
              <a:ext uri="{FF2B5EF4-FFF2-40B4-BE49-F238E27FC236}">
                <a16:creationId xmlns:a16="http://schemas.microsoft.com/office/drawing/2014/main" id="{CBEE3573-5A45-43AD-8243-718B26C7F6BD}"/>
              </a:ext>
            </a:extLst>
          </p:cNvPr>
          <p:cNvSpPr>
            <a:spLocks xmlns:a="http://schemas.openxmlformats.org/drawingml/2006/main" noGrp="1"/>
          </p:cNvSpPr>
          <p:nvPr/>
        </p:nvSpPr>
        <p:spPr>
          <a:xfrm xmlns:a="http://schemas.openxmlformats.org/drawingml/2006/main">
            <a:off x="590550" y="6096000"/>
            <a:ext cx="9001125" cy="1628775"/>
          </a:xfrm>
          <a:prstGeom xmlns:a="http://schemas.openxmlformats.org/drawingml/2006/main" prst="roundRect">
            <a:avLst>
              <a:gd name="adj" fmla="val 4678"/>
            </a:avLst>
          </a:prstGeom>
          <a:solidFill xmlns:a="http://schemas.openxmlformats.org/drawingml/2006/main">
            <a:srgbClr val="FFFFFF"/>
          </a:solidFill>
          <a:ln xmlns:a="http://schemas.openxmlformats.org/drawingml/2006/main" w="11906">
            <a:solidFill>
              <a:srgbClr val="8090B7"/>
            </a:solidFill>
          </a:ln>
        </p:spPr>
      </p:sp>
      <p:sp>
        <p:nvSpPr>
          <p:cNvPr id="20" name="number-circle-05">
            <a:extLst xmlns:a="http://schemas.openxmlformats.org/drawingml/2006/main">
              <a:ext uri="{FF2B5EF4-FFF2-40B4-BE49-F238E27FC236}">
                <a16:creationId xmlns:a16="http://schemas.microsoft.com/office/drawing/2014/main" id="{D59B71FE-8200-46BE-9386-66E80237AD04}"/>
              </a:ext>
            </a:extLst>
          </p:cNvPr>
          <p:cNvSpPr>
            <a:spLocks xmlns:a="http://schemas.openxmlformats.org/drawingml/2006/main" noGrp="1"/>
          </p:cNvSpPr>
          <p:nvPr/>
        </p:nvSpPr>
        <p:spPr>
          <a:xfrm xmlns:a="http://schemas.openxmlformats.org/drawingml/2006/main">
            <a:off x="742950" y="6238875"/>
            <a:ext cx="466725" cy="466725"/>
          </a:xfrm>
          <a:prstGeom xmlns:a="http://schemas.openxmlformats.org/drawingml/2006/main" prst="ellipse">
            <a:avLst/>
          </a:prstGeom>
          <a:solidFill xmlns:a="http://schemas.openxmlformats.org/drawingml/2006/main">
            <a:srgbClr val="061B60"/>
          </a:solidFill>
          <a:ln xmlns:a="http://schemas.openxmlformats.org/drawingml/2006/main" w="0">
            <a:noFill/>
          </a:ln>
        </p:spPr>
      </p:sp>
      <p:sp>
        <p:nvSpPr>
          <p:cNvPr id="21" name="number-05">
            <a:extLst xmlns:a="http://schemas.openxmlformats.org/drawingml/2006/main">
              <a:ext uri="{FF2B5EF4-FFF2-40B4-BE49-F238E27FC236}">
                <a16:creationId xmlns:a16="http://schemas.microsoft.com/office/drawing/2014/main" id="{188C7F16-4285-4E6F-A56D-61E66EF4F901}"/>
              </a:ext>
            </a:extLst>
          </p:cNvPr>
          <p:cNvSpPr>
            <a:spLocks xmlns:a="http://schemas.openxmlformats.org/drawingml/2006/main" noGrp="1"/>
          </p:cNvSpPr>
          <p:nvPr/>
        </p:nvSpPr>
        <p:spPr>
          <a:xfrm xmlns:a="http://schemas.openxmlformats.org/drawingml/2006/main">
            <a:off x="742950" y="6343650"/>
            <a:ext cx="466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Arial"/>
                <a:ea typeface="Arial"/>
                <a:cs typeface="Arial"/>
              </a:defRPr>
            </a:defPPr>
          </a:lstStyle>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05</a:t>
            </a:r>
          </a:p>
        </p:txBody>
      </p:sp>
      <p:sp>
        <p:nvSpPr>
          <p:cNvPr id="22" name="heading-05">
            <a:extLst xmlns:a="http://schemas.openxmlformats.org/drawingml/2006/main">
              <a:ext uri="{FF2B5EF4-FFF2-40B4-BE49-F238E27FC236}">
                <a16:creationId xmlns:a16="http://schemas.microsoft.com/office/drawing/2014/main" id="{B472D5C5-E976-4C1C-83D8-23E463904D73}"/>
              </a:ext>
            </a:extLst>
          </p:cNvPr>
          <p:cNvSpPr>
            <a:spLocks xmlns:a="http://schemas.openxmlformats.org/drawingml/2006/main" noGrp="1"/>
          </p:cNvSpPr>
          <p:nvPr/>
        </p:nvSpPr>
        <p:spPr>
          <a:xfrm xmlns:a="http://schemas.openxmlformats.org/drawingml/2006/main">
            <a:off x="1381125" y="6219825"/>
            <a:ext cx="7715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61B60"/>
                </a:solidFill>
                <a:latin typeface="Arial"/>
                <a:ea typeface="Arial"/>
                <a:cs typeface="Arial"/>
              </a:defRPr>
            </a:defPPr>
          </a:lstStyle>
          <a:p xmlns:a="http://schemas.openxmlformats.org/drawingml/2006/main">
            <a:pPr algn="l">
              <a:defRPr sz="1800" b="1">
                <a:solidFill>
                  <a:srgbClr val="061B60"/>
                </a:solidFill>
                <a:latin typeface="Arial"/>
                <a:ea typeface="Arial"/>
                <a:cs typeface="Arial"/>
              </a:defRPr>
            </a:pPr>
            <a:r>
              <a:rPr sz="1800" b="1">
                <a:solidFill>
                  <a:srgbClr val="061B60"/>
                </a:solidFill>
                <a:latin typeface="Arial"/>
                <a:ea typeface="Arial"/>
                <a:cs typeface="Arial"/>
              </a:rPr>
              <a:t>KHI NÀO XEM LẠI</a:t>
            </a:r>
          </a:p>
        </p:txBody>
      </p:sp>
      <p:sp>
        <p:nvSpPr>
          <p:cNvPr id="23" name="body-05">
            <a:extLst xmlns:a="http://schemas.openxmlformats.org/drawingml/2006/main">
              <a:ext uri="{FF2B5EF4-FFF2-40B4-BE49-F238E27FC236}">
                <a16:creationId xmlns:a16="http://schemas.microsoft.com/office/drawing/2014/main" id="{A0DDF751-3788-46E1-B8E1-64CCC0C9C2C4}"/>
              </a:ext>
            </a:extLst>
          </p:cNvPr>
          <p:cNvSpPr>
            <a:spLocks xmlns:a="http://schemas.openxmlformats.org/drawingml/2006/main" noGrp="1"/>
          </p:cNvSpPr>
          <p:nvPr/>
        </p:nvSpPr>
        <p:spPr>
          <a:xfrm xmlns:a="http://schemas.openxmlformats.org/drawingml/2006/main">
            <a:off x="1381125" y="6591300"/>
            <a:ext cx="79819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61B60"/>
                </a:solidFill>
                <a:latin typeface="Arial"/>
                <a:ea typeface="Arial"/>
                <a:cs typeface="Arial"/>
              </a:defRPr>
            </a:defPPr>
          </a:lstStyle>
          <a:p xmlns:a="http://schemas.openxmlformats.org/drawingml/2006/main">
            <a:pPr algn="l">
              <a:defRPr sz="1725" b="0">
                <a:solidFill>
                  <a:srgbClr val="061B60"/>
                </a:solidFill>
                <a:latin typeface="Arial"/>
                <a:ea typeface="Arial"/>
                <a:cs typeface="Arial"/>
              </a:defRPr>
            </a:pPr>
            <a:r>
              <a:rPr sz="1725" b="0">
                <a:solidFill>
                  <a:srgbClr val="061B60"/>
                </a:solidFill>
                <a:latin typeface="Arial"/>
                <a:ea typeface="Arial"/>
                <a:cs typeface="Arial"/>
              </a:rPr>
              <a:t>Ngày 30/60/90 từ lúc bắt đầu: xem lỗi, cờ thừa, giờ nhập và chi phí. Mức 2 cần 0 lỗi nghiêm trọng/300 hóa đơn kiểm tra, đạt từ 95%, không tầng tụt. Mô hình, giá hoặc quy định đổi: rà soát ngay. Các ngưỡng mới là đề xuất cần kiểm chứng.</a:t>
            </a:r>
          </a:p>
        </p:txBody>
      </p:sp>
      <p:sp>
        <p:nvSpPr>
          <p:cNvPr id="24" name="roadmap-heading">
            <a:extLst xmlns:a="http://schemas.openxmlformats.org/drawingml/2006/main">
              <a:ext uri="{FF2B5EF4-FFF2-40B4-BE49-F238E27FC236}">
                <a16:creationId xmlns:a16="http://schemas.microsoft.com/office/drawing/2014/main" id="{F6F6C050-4417-43D9-883F-41CCCC3DF481}"/>
              </a:ext>
            </a:extLst>
          </p:cNvPr>
          <p:cNvSpPr>
            <a:spLocks xmlns:a="http://schemas.openxmlformats.org/drawingml/2006/main" noGrp="1"/>
          </p:cNvSpPr>
          <p:nvPr/>
        </p:nvSpPr>
        <p:spPr>
          <a:xfrm xmlns:a="http://schemas.openxmlformats.org/drawingml/2006/main">
            <a:off x="9944100" y="27241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61B60"/>
                </a:solidFill>
                <a:latin typeface="Arial"/>
                <a:ea typeface="Arial"/>
                <a:cs typeface="Arial"/>
              </a:defRPr>
            </a:defPPr>
          </a:lstStyle>
          <a:p xmlns:a="http://schemas.openxmlformats.org/drawingml/2006/main">
            <a:pPr algn="l">
              <a:defRPr sz="2100" b="1">
                <a:solidFill>
                  <a:srgbClr val="061B60"/>
                </a:solidFill>
                <a:latin typeface="Arial"/>
                <a:ea typeface="Arial"/>
                <a:cs typeface="Arial"/>
              </a:defRPr>
            </a:pPr>
            <a:r>
              <a:rPr sz="2100" b="1">
                <a:solidFill>
                  <a:srgbClr val="061B60"/>
                </a:solidFill>
                <a:latin typeface="Arial"/>
                <a:ea typeface="Arial"/>
                <a:cs typeface="Arial"/>
              </a:rPr>
              <a:t>02  3 VIỆC CHÍNH</a:t>
            </a:r>
          </a:p>
        </p:txBody>
      </p:sp>
      <p:sp>
        <p:nvSpPr>
          <p:cNvPr id="25" name="stage-0">
            <a:extLst xmlns:a="http://schemas.openxmlformats.org/drawingml/2006/main">
              <a:ext uri="{FF2B5EF4-FFF2-40B4-BE49-F238E27FC236}">
                <a16:creationId xmlns:a16="http://schemas.microsoft.com/office/drawing/2014/main" id="{CC2A97D1-D8BB-40EE-9ED7-CDC1B1C57A07}"/>
              </a:ext>
            </a:extLst>
          </p:cNvPr>
          <p:cNvSpPr>
            <a:spLocks xmlns:a="http://schemas.openxmlformats.org/drawingml/2006/main" noGrp="1"/>
          </p:cNvSpPr>
          <p:nvPr/>
        </p:nvSpPr>
        <p:spPr>
          <a:xfrm xmlns:a="http://schemas.openxmlformats.org/drawingml/2006/main">
            <a:off x="9944100" y="3286125"/>
            <a:ext cx="4695825" cy="1200150"/>
          </a:xfrm>
          <a:prstGeom xmlns:a="http://schemas.openxmlformats.org/drawingml/2006/main" prst="roundRect">
            <a:avLst>
              <a:gd name="adj" fmla="val 6349"/>
            </a:avLst>
          </a:prstGeom>
          <a:solidFill xmlns:a="http://schemas.openxmlformats.org/drawingml/2006/main">
            <a:srgbClr val="061B60"/>
          </a:solidFill>
          <a:ln xmlns:a="http://schemas.openxmlformats.org/drawingml/2006/main" w="0">
            <a:noFill/>
          </a:ln>
        </p:spPr>
      </p:sp>
      <p:sp>
        <p:nvSpPr>
          <p:cNvPr id="26" name="stage-period-0">
            <a:extLst xmlns:a="http://schemas.openxmlformats.org/drawingml/2006/main">
              <a:ext uri="{FF2B5EF4-FFF2-40B4-BE49-F238E27FC236}">
                <a16:creationId xmlns:a16="http://schemas.microsoft.com/office/drawing/2014/main" id="{F4A6FD50-1F54-44B0-8B8C-21867F653330}"/>
              </a:ext>
            </a:extLst>
          </p:cNvPr>
          <p:cNvSpPr>
            <a:spLocks xmlns:a="http://schemas.openxmlformats.org/drawingml/2006/main" noGrp="1"/>
          </p:cNvSpPr>
          <p:nvPr/>
        </p:nvSpPr>
        <p:spPr>
          <a:xfrm xmlns:a="http://schemas.openxmlformats.org/drawingml/2006/main">
            <a:off x="10163175" y="3419475"/>
            <a:ext cx="42576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FFFFF"/>
                </a:solidFill>
                <a:latin typeface="Arial"/>
                <a:ea typeface="Arial"/>
                <a:cs typeface="Arial"/>
              </a:defRPr>
            </a:defPPr>
          </a:lstStyle>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0–3 THÁNG</a:t>
            </a:r>
          </a:p>
        </p:txBody>
      </p:sp>
      <p:sp>
        <p:nvSpPr>
          <p:cNvPr id="27" name="stage-body-0">
            <a:extLst xmlns:a="http://schemas.openxmlformats.org/drawingml/2006/main">
              <a:ext uri="{FF2B5EF4-FFF2-40B4-BE49-F238E27FC236}">
                <a16:creationId xmlns:a16="http://schemas.microsoft.com/office/drawing/2014/main" id="{C427823A-48E9-46DE-9276-670A7F6F791D}"/>
              </a:ext>
            </a:extLst>
          </p:cNvPr>
          <p:cNvSpPr>
            <a:spLocks xmlns:a="http://schemas.openxmlformats.org/drawingml/2006/main" noGrp="1"/>
          </p:cNvSpPr>
          <p:nvPr/>
        </p:nvSpPr>
        <p:spPr>
          <a:xfrm xmlns:a="http://schemas.openxmlformats.org/drawingml/2006/main">
            <a:off x="10163175" y="3800475"/>
            <a:ext cx="42576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63" b="0">
                <a:solidFill>
                  <a:srgbClr val="FFFFFF"/>
                </a:solidFill>
                <a:latin typeface="Arial"/>
                <a:ea typeface="Arial"/>
                <a:cs typeface="Arial"/>
              </a:defRPr>
            </a:defPPr>
          </a:lstStyle>
          <a:p xmlns:a="http://schemas.openxmlformats.org/drawingml/2006/main">
            <a:pPr algn="ctr">
              <a:defRPr sz="1763" b="0">
                <a:solidFill>
                  <a:srgbClr val="FFFFFF"/>
                </a:solidFill>
                <a:latin typeface="Arial"/>
                <a:ea typeface="Arial"/>
                <a:cs typeface="Arial"/>
              </a:defRPr>
            </a:pPr>
            <a:r>
              <a:rPr sz="1763" b="0">
                <a:solidFill>
                  <a:srgbClr val="FFFFFF"/>
                </a:solidFill>
                <a:latin typeface="Arial"/>
                <a:ea typeface="Arial"/>
                <a:cs typeface="Arial"/>
              </a:rPr>
              <a:t>đọc ảnh và gắn cờ.</a:t>
            </a:r>
          </a:p>
        </p:txBody>
      </p:sp>
      <p:sp>
        <p:nvSpPr>
          <p:cNvPr id="28" name="stage-connector-0">
            <a:extLst xmlns:a="http://schemas.openxmlformats.org/drawingml/2006/main">
              <a:ext uri="{FF2B5EF4-FFF2-40B4-BE49-F238E27FC236}">
                <a16:creationId xmlns:a16="http://schemas.microsoft.com/office/drawing/2014/main" id="{64DCEF97-4E08-4A30-AA12-9A1837082D45}"/>
              </a:ext>
            </a:extLst>
          </p:cNvPr>
          <p:cNvSpPr>
            <a:spLocks xmlns:a="http://schemas.openxmlformats.org/drawingml/2006/main" noGrp="1"/>
          </p:cNvSpPr>
          <p:nvPr/>
        </p:nvSpPr>
        <p:spPr>
          <a:xfrm xmlns:a="http://schemas.openxmlformats.org/drawingml/2006/main">
            <a:off x="12172950" y="4524375"/>
            <a:ext cx="228600" cy="114300"/>
          </a:xfrm>
          <a:prstGeom xmlns:a="http://schemas.openxmlformats.org/drawingml/2006/main" prst="downArrow">
            <a:avLst/>
          </a:prstGeom>
          <a:solidFill xmlns:a="http://schemas.openxmlformats.org/drawingml/2006/main">
            <a:srgbClr val="81D8E5"/>
          </a:solidFill>
          <a:ln xmlns:a="http://schemas.openxmlformats.org/drawingml/2006/main" w="0">
            <a:noFill/>
          </a:ln>
        </p:spPr>
      </p:sp>
      <p:sp>
        <p:nvSpPr>
          <p:cNvPr id="29" name="stage-1">
            <a:extLst xmlns:a="http://schemas.openxmlformats.org/drawingml/2006/main">
              <a:ext uri="{FF2B5EF4-FFF2-40B4-BE49-F238E27FC236}">
                <a16:creationId xmlns:a16="http://schemas.microsoft.com/office/drawing/2014/main" id="{D3AB1651-C71E-4211-8239-B64B1C8371B8}"/>
              </a:ext>
            </a:extLst>
          </p:cNvPr>
          <p:cNvSpPr>
            <a:spLocks xmlns:a="http://schemas.openxmlformats.org/drawingml/2006/main" noGrp="1"/>
          </p:cNvSpPr>
          <p:nvPr/>
        </p:nvSpPr>
        <p:spPr>
          <a:xfrm xmlns:a="http://schemas.openxmlformats.org/drawingml/2006/main">
            <a:off x="9944100" y="4657725"/>
            <a:ext cx="4695825" cy="1200150"/>
          </a:xfrm>
          <a:prstGeom xmlns:a="http://schemas.openxmlformats.org/drawingml/2006/main" prst="roundRect">
            <a:avLst>
              <a:gd name="adj" fmla="val 6349"/>
            </a:avLst>
          </a:prstGeom>
          <a:solidFill xmlns:a="http://schemas.openxmlformats.org/drawingml/2006/main">
            <a:srgbClr val="1552A4"/>
          </a:solidFill>
          <a:ln xmlns:a="http://schemas.openxmlformats.org/drawingml/2006/main" w="0">
            <a:noFill/>
          </a:ln>
        </p:spPr>
      </p:sp>
      <p:sp>
        <p:nvSpPr>
          <p:cNvPr id="30" name="stage-period-1">
            <a:extLst xmlns:a="http://schemas.openxmlformats.org/drawingml/2006/main">
              <a:ext uri="{FF2B5EF4-FFF2-40B4-BE49-F238E27FC236}">
                <a16:creationId xmlns:a16="http://schemas.microsoft.com/office/drawing/2014/main" id="{EAA0B83E-507B-49B8-8828-B06F90005FA2}"/>
              </a:ext>
            </a:extLst>
          </p:cNvPr>
          <p:cNvSpPr>
            <a:spLocks xmlns:a="http://schemas.openxmlformats.org/drawingml/2006/main" noGrp="1"/>
          </p:cNvSpPr>
          <p:nvPr/>
        </p:nvSpPr>
        <p:spPr>
          <a:xfrm xmlns:a="http://schemas.openxmlformats.org/drawingml/2006/main">
            <a:off x="10163175" y="4791075"/>
            <a:ext cx="42576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FFFFF"/>
                </a:solidFill>
                <a:latin typeface="Arial"/>
                <a:ea typeface="Arial"/>
                <a:cs typeface="Arial"/>
              </a:defRPr>
            </a:defPPr>
          </a:lstStyle>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3–6 THÁNG</a:t>
            </a:r>
          </a:p>
        </p:txBody>
      </p:sp>
      <p:sp>
        <p:nvSpPr>
          <p:cNvPr id="31" name="stage-body-1">
            <a:extLst xmlns:a="http://schemas.openxmlformats.org/drawingml/2006/main">
              <a:ext uri="{FF2B5EF4-FFF2-40B4-BE49-F238E27FC236}">
                <a16:creationId xmlns:a16="http://schemas.microsoft.com/office/drawing/2014/main" id="{B34CB3F9-0D40-4C40-8E56-9EB53D8E0DE6}"/>
              </a:ext>
            </a:extLst>
          </p:cNvPr>
          <p:cNvSpPr>
            <a:spLocks xmlns:a="http://schemas.openxmlformats.org/drawingml/2006/main" noGrp="1"/>
          </p:cNvSpPr>
          <p:nvPr/>
        </p:nvSpPr>
        <p:spPr>
          <a:xfrm xmlns:a="http://schemas.openxmlformats.org/drawingml/2006/main">
            <a:off x="10163175" y="5172075"/>
            <a:ext cx="42576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63" b="0">
                <a:solidFill>
                  <a:srgbClr val="FFFFFF"/>
                </a:solidFill>
                <a:latin typeface="Arial"/>
                <a:ea typeface="Arial"/>
                <a:cs typeface="Arial"/>
              </a:defRPr>
            </a:defPPr>
          </a:lstStyle>
          <a:p xmlns:a="http://schemas.openxmlformats.org/drawingml/2006/main">
            <a:pPr algn="ctr">
              <a:defRPr sz="1763" b="0">
                <a:solidFill>
                  <a:srgbClr val="FFFFFF"/>
                </a:solidFill>
                <a:latin typeface="Arial"/>
                <a:ea typeface="Arial"/>
                <a:cs typeface="Arial"/>
              </a:defRPr>
            </a:pPr>
            <a:r>
              <a:rPr sz="1763" b="0">
                <a:solidFill>
                  <a:srgbClr val="FFFFFF"/>
                </a:solidFill>
                <a:latin typeface="Arial"/>
                <a:ea typeface="Arial"/>
                <a:cs typeface="Arial"/>
              </a:rPr>
              <a:t>đối chiếu mã số thuế, tích hợp dịch vụ sẵn có.</a:t>
            </a:r>
          </a:p>
        </p:txBody>
      </p:sp>
      <p:sp>
        <p:nvSpPr>
          <p:cNvPr id="32" name="stage-connector-1">
            <a:extLst xmlns:a="http://schemas.openxmlformats.org/drawingml/2006/main">
              <a:ext uri="{FF2B5EF4-FFF2-40B4-BE49-F238E27FC236}">
                <a16:creationId xmlns:a16="http://schemas.microsoft.com/office/drawing/2014/main" id="{4E464F5C-F402-4B7E-AC32-D1C9739ECD0C}"/>
              </a:ext>
            </a:extLst>
          </p:cNvPr>
          <p:cNvSpPr>
            <a:spLocks xmlns:a="http://schemas.openxmlformats.org/drawingml/2006/main" noGrp="1"/>
          </p:cNvSpPr>
          <p:nvPr/>
        </p:nvSpPr>
        <p:spPr>
          <a:xfrm xmlns:a="http://schemas.openxmlformats.org/drawingml/2006/main">
            <a:off x="12172950" y="5895975"/>
            <a:ext cx="228600" cy="114300"/>
          </a:xfrm>
          <a:prstGeom xmlns:a="http://schemas.openxmlformats.org/drawingml/2006/main" prst="downArrow">
            <a:avLst/>
          </a:prstGeom>
          <a:solidFill xmlns:a="http://schemas.openxmlformats.org/drawingml/2006/main">
            <a:srgbClr val="81D8E5"/>
          </a:solidFill>
          <a:ln xmlns:a="http://schemas.openxmlformats.org/drawingml/2006/main" w="0">
            <a:noFill/>
          </a:ln>
        </p:spPr>
      </p:sp>
      <p:sp>
        <p:nvSpPr>
          <p:cNvPr id="33" name="stage-2">
            <a:extLst xmlns:a="http://schemas.openxmlformats.org/drawingml/2006/main">
              <a:ext uri="{FF2B5EF4-FFF2-40B4-BE49-F238E27FC236}">
                <a16:creationId xmlns:a16="http://schemas.microsoft.com/office/drawing/2014/main" id="{987F2A08-6EAD-44EB-B0CD-E2D1A7BA9418}"/>
              </a:ext>
            </a:extLst>
          </p:cNvPr>
          <p:cNvSpPr>
            <a:spLocks xmlns:a="http://schemas.openxmlformats.org/drawingml/2006/main" noGrp="1"/>
          </p:cNvSpPr>
          <p:nvPr/>
        </p:nvSpPr>
        <p:spPr>
          <a:xfrm xmlns:a="http://schemas.openxmlformats.org/drawingml/2006/main">
            <a:off x="9944100" y="6029325"/>
            <a:ext cx="4695825" cy="1200150"/>
          </a:xfrm>
          <a:prstGeom xmlns:a="http://schemas.openxmlformats.org/drawingml/2006/main" prst="roundRect">
            <a:avLst>
              <a:gd name="adj" fmla="val 6349"/>
            </a:avLst>
          </a:prstGeom>
          <a:solidFill xmlns:a="http://schemas.openxmlformats.org/drawingml/2006/main">
            <a:srgbClr val="009FB8"/>
          </a:solidFill>
          <a:ln xmlns:a="http://schemas.openxmlformats.org/drawingml/2006/main" w="0">
            <a:noFill/>
          </a:ln>
        </p:spPr>
      </p:sp>
      <p:sp>
        <p:nvSpPr>
          <p:cNvPr id="34" name="stage-period-2">
            <a:extLst xmlns:a="http://schemas.openxmlformats.org/drawingml/2006/main">
              <a:ext uri="{FF2B5EF4-FFF2-40B4-BE49-F238E27FC236}">
                <a16:creationId xmlns:a16="http://schemas.microsoft.com/office/drawing/2014/main" id="{068B125F-1EC6-4D73-BD5E-DBF320A6C088}"/>
              </a:ext>
            </a:extLst>
          </p:cNvPr>
          <p:cNvSpPr>
            <a:spLocks xmlns:a="http://schemas.openxmlformats.org/drawingml/2006/main" noGrp="1"/>
          </p:cNvSpPr>
          <p:nvPr/>
        </p:nvSpPr>
        <p:spPr>
          <a:xfrm xmlns:a="http://schemas.openxmlformats.org/drawingml/2006/main">
            <a:off x="10163175" y="6162675"/>
            <a:ext cx="42576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FFFFF"/>
                </a:solidFill>
                <a:latin typeface="Arial"/>
                <a:ea typeface="Arial"/>
                <a:cs typeface="Arial"/>
              </a:defRPr>
            </a:defPPr>
          </a:lstStyle>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6–12 THÁNG</a:t>
            </a:r>
          </a:p>
        </p:txBody>
      </p:sp>
      <p:sp>
        <p:nvSpPr>
          <p:cNvPr id="35" name="stage-body-2">
            <a:extLst xmlns:a="http://schemas.openxmlformats.org/drawingml/2006/main">
              <a:ext uri="{FF2B5EF4-FFF2-40B4-BE49-F238E27FC236}">
                <a16:creationId xmlns:a16="http://schemas.microsoft.com/office/drawing/2014/main" id="{5DC09209-B3E1-4CCE-A777-CBDE0A797041}"/>
              </a:ext>
            </a:extLst>
          </p:cNvPr>
          <p:cNvSpPr>
            <a:spLocks xmlns:a="http://schemas.openxmlformats.org/drawingml/2006/main" noGrp="1"/>
          </p:cNvSpPr>
          <p:nvPr/>
        </p:nvSpPr>
        <p:spPr>
          <a:xfrm xmlns:a="http://schemas.openxmlformats.org/drawingml/2006/main">
            <a:off x="10163175" y="6543675"/>
            <a:ext cx="42576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63" b="0">
                <a:solidFill>
                  <a:srgbClr val="FFFFFF"/>
                </a:solidFill>
                <a:latin typeface="Arial"/>
                <a:ea typeface="Arial"/>
                <a:cs typeface="Arial"/>
              </a:defRPr>
            </a:defPPr>
          </a:lstStyle>
          <a:p xmlns:a="http://schemas.openxmlformats.org/drawingml/2006/main">
            <a:pPr algn="ctr">
              <a:defRPr sz="1763" b="0">
                <a:solidFill>
                  <a:srgbClr val="FFFFFF"/>
                </a:solidFill>
                <a:latin typeface="Arial"/>
                <a:ea typeface="Arial"/>
                <a:cs typeface="Arial"/>
              </a:defRPr>
            </a:pPr>
            <a:r>
              <a:rPr sz="1763" b="0">
                <a:solidFill>
                  <a:srgbClr val="FFFFFF"/>
                </a:solidFill>
                <a:latin typeface="Arial"/>
                <a:ea typeface="Arial"/>
                <a:cs typeface="Arial"/>
              </a:rPr>
              <a:t>mở rộng có điều kiện, khám phá hạch toán khi đủ dữ liệu.</a:t>
            </a:r>
          </a:p>
        </p:txBody>
      </p:sp>
      <p:sp>
        <p:nvSpPr>
          <p:cNvPr id="36" name="identity">
            <a:extLst xmlns:a="http://schemas.openxmlformats.org/drawingml/2006/main">
              <a:ext uri="{FF2B5EF4-FFF2-40B4-BE49-F238E27FC236}">
                <a16:creationId xmlns:a16="http://schemas.microsoft.com/office/drawing/2014/main" id="{EDF92A7A-7F6C-4D38-ADAC-2B0A9E811FF5}"/>
              </a:ext>
            </a:extLst>
          </p:cNvPr>
          <p:cNvSpPr>
            <a:spLocks xmlns:a="http://schemas.openxmlformats.org/drawingml/2006/main" noGrp="1"/>
          </p:cNvSpPr>
          <p:nvPr/>
        </p:nvSpPr>
        <p:spPr>
          <a:xfrm xmlns:a="http://schemas.openxmlformats.org/drawingml/2006/main">
            <a:off x="590550" y="8048625"/>
            <a:ext cx="1304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D5481"/>
                </a:solidFill>
                <a:latin typeface="Arial"/>
                <a:ea typeface="Arial"/>
                <a:cs typeface="Arial"/>
              </a:defRPr>
            </a:defPPr>
          </a:lstStyle>
          <a:p xmlns:a="http://schemas.openxmlformats.org/drawingml/2006/main">
            <a:pPr algn="l">
              <a:defRPr sz="1350" b="0">
                <a:solidFill>
                  <a:srgbClr val="3D5481"/>
                </a:solidFill>
                <a:latin typeface="Arial"/>
                <a:ea typeface="Arial"/>
                <a:cs typeface="Arial"/>
              </a:defRPr>
            </a:pPr>
            <a:r>
              <a:rPr sz="1350" b="0">
                <a:solidFill>
                  <a:srgbClr val="3D5481"/>
                </a:solidFill>
                <a:latin typeface="Arial"/>
                <a:ea typeface="Arial"/>
                <a:cs typeface="Arial"/>
              </a:rPr>
              <a:t>Dương Thị Hồng Viên  ·  2A202602385  ·  VinUni AI Thực Chiến – Cohort IV</a:t>
            </a:r>
          </a:p>
        </p:txBody>
      </p:sp>
    </p:spTree>
    <p:extLst>
      <p:ext uri="{BB962C8B-B14F-4D97-AF65-F5344CB8AC3E}">
        <p14:creationId xmlns:p14="http://schemas.microsoft.com/office/powerpoint/2010/main" val="2738994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2026-10-16T15:35:44.1660000Z</dcterms:created>
  <dcterms:modified xsi:type="dcterms:W3CDTF">2026-10-16T15:35:44.1660000Z</dcterms:modified>
</coreProperties>
</file>