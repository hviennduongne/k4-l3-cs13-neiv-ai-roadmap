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8e9979a6ab4a5b" /><Relationship Type="http://schemas.openxmlformats.org/officeDocument/2006/relationships/extended-properties" Target="/docProps/app.xml" Id="R65ba62891cf14d9c" /><Relationship Type="http://schemas.openxmlformats.org/officeDocument/2006/relationships/officeDocument" Target="/ppt/presentation.xml" Id="R3b0aa91ea5e745b8" /></Relationships>
</file>

<file path=ppt/presentation.xml><?xml version="1.0" encoding="utf-8"?>
<p:presentation xmlns:p="http://schemas.openxmlformats.org/presentationml/2006/main">
  <p:sldMasterIdLst>
    <p:sldMasterId xmlns:r="http://schemas.openxmlformats.org/officeDocument/2006/relationships" id="2147483648" r:id="Reb49aa999e364008"/>
  </p:sldMasterIdLst>
  <p:notesMasterIdLst>
    <p:notesMasterId xmlns:r="http://schemas.openxmlformats.org/officeDocument/2006/relationships" r:id="R8ebc2c3e5600479f"/>
  </p:notesMasterIdLst>
  <p:sldIdLst>
    <p:sldId xmlns:r="http://schemas.openxmlformats.org/officeDocument/2006/relationships" id="256" r:id="R751348db6630487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db590256f145f2" /><Relationship Type="http://schemas.openxmlformats.org/officeDocument/2006/relationships/slideMaster" Target="/ppt/slideMasters/slideMaster1.xml" Id="Reb49aa999e364008" /><Relationship Type="http://schemas.openxmlformats.org/officeDocument/2006/relationships/notesMaster" Target="/ppt/notesMasters/notesMaster1.xml" Id="R8ebc2c3e5600479f" /><Relationship Type="http://schemas.openxmlformats.org/officeDocument/2006/relationships/presProps" Target="/ppt/presProps.xml" Id="Rc926cadc408b4b1e" /><Relationship Type="http://schemas.openxmlformats.org/officeDocument/2006/relationships/tableStyles" Target="/ppt/tableStyles.xml" Id="Reaf2ae2d73544fca" /><Relationship Type="http://schemas.openxmlformats.org/officeDocument/2006/relationships/slide" Target="/ppt/slides/slide1.xml" Id="R751348db663048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043dad10ac47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632b6538434907" /><Relationship Type="http://schemas.openxmlformats.org/officeDocument/2006/relationships/notesMaster" Target="/ppt/notesMasters/notesMaster1.xml" Id="Rfe040dcdbd1343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Nội dung nguyên văn từ Neiv_CS13.xlsx, trang 5_Slide lãnh đạo, B4:B8. B5 được tách theo 3 câu để đưa vào sơ đồ lộ trình. Nguồn: docs/CS13_HoSoTinhHuong.pdf, Đề 1, trang 2–3; docs/CS13_SlideLop_AIRoadmap.pdf, slide 74 và 81–85. Tất cả số liệu hồ sơ là giả định. Ngưỡng bổ sung là đề xuất cần kiểm chứng. Tham khảo phong cách ảnh người dùng cung cấp ngày 16/10/2026: nền trắng, navy/cyan, tiêu đề lớn, khung viền mảnh, sơ đồ 3 tầng. Không dùng nội dung nghiên cứu hoặc số liệu trong ảnh tham khảo. Nền trang trí tạo bằng công cụ image_gen tích hợp, prompt: nền trình chiếu trắng 16:9, điểm chấm xanh mờ và đường cong góc phải, navy/cyan, không chữ. Nội dung và sơ đồ là đối tượng PowerPoint chỉnh sửa được.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2beaa899e74d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9ed03af78141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23d1102e2845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cf8486c14148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e8827ac3d547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63cd729e0d4a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89A13-B062-41B7-8A5D-36677DA74BE4}"/>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6F4E5E-D829-438D-9021-D7180E6182B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6B9F38-7C5A-4D2C-AEBD-2643D35BA05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D86A2B-6BB7-42CC-AFE3-8D676DE0341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930A47-E9E7-4493-931F-FEADF872913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35B0CD-08EF-4BE5-8F0E-8E869AC673E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A85B4E-A647-4FEE-B019-93F5502A890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910CE3-F2B3-41CA-B896-E7425B0AE58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4EC09D-722D-4F99-BAEA-75A8E2B1FBA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09EA3D-A8A2-446A-ACDD-0273DD539BB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b5c1910ae34beb" /><Relationship Type="http://schemas.openxmlformats.org/officeDocument/2006/relationships/slideLayout" Target="/ppt/slideLayouts/slideLayout1.xml" Id="Rf6b5820115594435" /><Relationship Type="http://schemas.openxmlformats.org/officeDocument/2006/relationships/slideLayout" Target="/ppt/slideLayouts/slideLayout2.xml" Id="R5fd2b12dcf7141d2" /><Relationship Type="http://schemas.openxmlformats.org/officeDocument/2006/relationships/slideLayout" Target="/ppt/slideLayouts/slideLayout3.xml" Id="Rf4438fa760e644c5" /><Relationship Type="http://schemas.openxmlformats.org/officeDocument/2006/relationships/slideLayout" Target="/ppt/slideLayouts/slideLayout4.xml" Id="R088740f3c4314f79" /><Relationship Type="http://schemas.openxmlformats.org/officeDocument/2006/relationships/slideLayout" Target="/ppt/slideLayouts/slideLayout5.xml" Id="R8b51e67f31e94f05" /><Relationship Type="http://schemas.openxmlformats.org/officeDocument/2006/relationships/slideLayout" Target="/ppt/slideLayouts/slideLayout6.xml" Id="R665ae4f9b94e4f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b5820115594435"/>
    <p:sldLayoutId xmlns:r="http://schemas.openxmlformats.org/officeDocument/2006/relationships" id="2147483650" r:id="R5fd2b12dcf7141d2"/>
    <p:sldLayoutId xmlns:r="http://schemas.openxmlformats.org/officeDocument/2006/relationships" id="2147483651" r:id="Rf4438fa760e644c5"/>
    <p:sldLayoutId xmlns:r="http://schemas.openxmlformats.org/officeDocument/2006/relationships" id="2147483652" r:id="R088740f3c4314f79"/>
    <p:sldLayoutId xmlns:r="http://schemas.openxmlformats.org/officeDocument/2006/relationships" id="2147483653" r:id="R8b51e67f31e94f05"/>
    <p:sldLayoutId xmlns:r="http://schemas.openxmlformats.org/officeDocument/2006/relationships" id="2147483654" r:id="R665ae4f9b94e4f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4a1d5688de4ccb" /><Relationship Type="http://schemas.openxmlformats.org/officeDocument/2006/relationships/image" Target="/ppt/media/image.png" Id="R145845b3213248cf" /><Relationship Type="http://schemas.openxmlformats.org/officeDocument/2006/relationships/notesSlide" Target="/ppt/notesSlides/notesSlide1.xml" Id="R39559ac17810423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BEC2B162-A297-4E50-A5BD-3C8D496297B0}"/>
              </a:ext>
            </a:extLst>
          </p:cNvPr>
          <p:cNvPicPr>
            <a:picLocks xmlns:a="http://schemas.openxmlformats.org/drawingml/2006/main" noChangeAspect="1"/>
          </p:cNvPicPr>
          <p:nvPr/>
        </p:nvPicPr>
        <p:blipFill>
          <a:blip xmlns:r="http://schemas.openxmlformats.org/officeDocument/2006/relationships" xmlns:a="http://schemas.openxmlformats.org/drawingml/2006/main" r:embed="R145845b3213248cf"/>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course">
            <a:extLst xmlns:a="http://schemas.openxmlformats.org/drawingml/2006/main">
              <a:ext uri="{FF2B5EF4-FFF2-40B4-BE49-F238E27FC236}">
                <a16:creationId xmlns:a16="http://schemas.microsoft.com/office/drawing/2014/main" id="{3BA25604-6DDF-470B-93C9-7488AA78D45F}"/>
              </a:ext>
            </a:extLst>
          </p:cNvPr>
          <p:cNvSpPr>
            <a:spLocks xmlns:a="http://schemas.openxmlformats.org/drawingml/2006/main" noGrp="1"/>
          </p:cNvSpPr>
          <p:nvPr/>
        </p:nvSpPr>
        <p:spPr>
          <a:xfrm xmlns:a="http://schemas.openxmlformats.org/drawingml/2006/main">
            <a:off x="10953750" y="3048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061B60"/>
                </a:solidFill>
                <a:latin typeface="Arial"/>
                <a:ea typeface="Arial"/>
                <a:cs typeface="Arial"/>
              </a:defRPr>
            </a:defPPr>
          </a:lstStyle>
          <a:p xmlns:a="http://schemas.openxmlformats.org/drawingml/2006/main">
            <a:pPr algn="r">
              <a:defRPr sz="1350" b="0">
                <a:solidFill>
                  <a:srgbClr val="061B60"/>
                </a:solidFill>
                <a:latin typeface="Arial"/>
                <a:ea typeface="Arial"/>
                <a:cs typeface="Arial"/>
              </a:defRPr>
            </a:pPr>
            <a:r>
              <a:rPr sz="1350" b="0">
                <a:solidFill>
                  <a:srgbClr val="061B60"/>
                </a:solidFill>
                <a:latin typeface="Arial"/>
                <a:ea typeface="Arial"/>
                <a:cs typeface="Arial"/>
              </a:rPr>
              <a:t>NEIV  /  LAB DAY 13</a:t>
            </a:r>
          </a:p>
        </p:txBody>
      </p:sp>
      <p:sp>
        <p:nvSpPr>
          <p:cNvPr id="3" name="title">
            <a:extLst xmlns:a="http://schemas.openxmlformats.org/drawingml/2006/main">
              <a:ext uri="{FF2B5EF4-FFF2-40B4-BE49-F238E27FC236}">
                <a16:creationId xmlns:a16="http://schemas.microsoft.com/office/drawing/2014/main" id="{9A06B8BD-C103-4F7B-982C-A6C537B8A373}"/>
              </a:ext>
            </a:extLst>
          </p:cNvPr>
          <p:cNvSpPr>
            <a:spLocks xmlns:a="http://schemas.openxmlformats.org/drawingml/2006/main" noGrp="1"/>
          </p:cNvSpPr>
          <p:nvPr/>
        </p:nvSpPr>
        <p:spPr>
          <a:xfrm xmlns:a="http://schemas.openxmlformats.org/drawingml/2006/main">
            <a:off x="590550" y="647700"/>
            <a:ext cx="14049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61B60"/>
                </a:solidFill>
                <a:latin typeface="Arial"/>
                <a:ea typeface="Arial"/>
                <a:cs typeface="Arial"/>
              </a:defRPr>
            </a:defPPr>
          </a:lstStyle>
          <a:p xmlns:a="http://schemas.openxmlformats.org/drawingml/2006/main">
            <a:pPr algn="l">
              <a:defRPr sz="3600" b="1">
                <a:solidFill>
                  <a:srgbClr val="061B60"/>
                </a:solidFill>
                <a:latin typeface="Arial"/>
                <a:ea typeface="Arial"/>
                <a:cs typeface="Arial"/>
              </a:defRPr>
            </a:pPr>
            <a:r>
              <a:rPr sz="3600" b="1">
                <a:solidFill>
                  <a:srgbClr val="061B60"/>
                </a:solidFill>
                <a:latin typeface="Arial"/>
                <a:ea typeface="Arial"/>
                <a:cs typeface="Arial"/>
              </a:rPr>
              <a:t>SỔSẠCH: LỘ TRÌNH AI 12 THÁNG</a:t>
            </a:r>
          </a:p>
        </p:txBody>
      </p:sp>
      <p:sp>
        <p:nvSpPr>
          <p:cNvPr id="4" name="conclusion-border">
            <a:extLst xmlns:a="http://schemas.openxmlformats.org/drawingml/2006/main">
              <a:ext uri="{FF2B5EF4-FFF2-40B4-BE49-F238E27FC236}">
                <a16:creationId xmlns:a16="http://schemas.microsoft.com/office/drawing/2014/main" id="{A0B444A0-6AA0-49A3-BBB6-9DA0F797482B}"/>
              </a:ext>
            </a:extLst>
          </p:cNvPr>
          <p:cNvSpPr>
            <a:spLocks xmlns:a="http://schemas.openxmlformats.org/drawingml/2006/main" noGrp="1"/>
          </p:cNvSpPr>
          <p:nvPr/>
        </p:nvSpPr>
        <p:spPr>
          <a:xfrm xmlns:a="http://schemas.openxmlformats.org/drawingml/2006/main">
            <a:off x="590550" y="1381125"/>
            <a:ext cx="14049375" cy="1057275"/>
          </a:xfrm>
          <a:prstGeom xmlns:a="http://schemas.openxmlformats.org/drawingml/2006/main" prst="roundRect">
            <a:avLst>
              <a:gd name="adj" fmla="val 7207"/>
            </a:avLst>
          </a:prstGeom>
          <a:solidFill xmlns:a="http://schemas.openxmlformats.org/drawingml/2006/main">
            <a:srgbClr val="F5FBFD"/>
          </a:solidFill>
          <a:ln xmlns:a="http://schemas.openxmlformats.org/drawingml/2006/main" w="11430">
            <a:solidFill>
              <a:srgbClr val="9EDBE5"/>
            </a:solidFill>
          </a:ln>
        </p:spPr>
      </p:sp>
      <p:sp>
        <p:nvSpPr>
          <p:cNvPr id="5" name="conclusion-circle">
            <a:extLst xmlns:a="http://schemas.openxmlformats.org/drawingml/2006/main">
              <a:ext uri="{FF2B5EF4-FFF2-40B4-BE49-F238E27FC236}">
                <a16:creationId xmlns:a16="http://schemas.microsoft.com/office/drawing/2014/main" id="{F9267DFD-AC24-4549-AE77-BA4165EEEA76}"/>
              </a:ext>
            </a:extLst>
          </p:cNvPr>
          <p:cNvSpPr>
            <a:spLocks xmlns:a="http://schemas.openxmlformats.org/drawingml/2006/main" noGrp="1"/>
          </p:cNvSpPr>
          <p:nvPr/>
        </p:nvSpPr>
        <p:spPr>
          <a:xfrm xmlns:a="http://schemas.openxmlformats.org/drawingml/2006/main">
            <a:off x="762000" y="1600200"/>
            <a:ext cx="495300" cy="495300"/>
          </a:xfrm>
          <a:prstGeom xmlns:a="http://schemas.openxmlformats.org/drawingml/2006/main" prst="ellipse">
            <a:avLst/>
          </a:prstGeom>
          <a:solidFill xmlns:a="http://schemas.openxmlformats.org/drawingml/2006/main">
            <a:srgbClr val="061B60"/>
          </a:solidFill>
          <a:ln xmlns:a="http://schemas.openxmlformats.org/drawingml/2006/main" w="0">
            <a:noFill/>
          </a:ln>
        </p:spPr>
      </p:sp>
      <p:sp>
        <p:nvSpPr>
          <p:cNvPr id="6" name="conclusion-number">
            <a:extLst xmlns:a="http://schemas.openxmlformats.org/drawingml/2006/main">
              <a:ext uri="{FF2B5EF4-FFF2-40B4-BE49-F238E27FC236}">
                <a16:creationId xmlns:a16="http://schemas.microsoft.com/office/drawing/2014/main" id="{343B1F41-2573-488F-B8CD-E847C78623F3}"/>
              </a:ext>
            </a:extLst>
          </p:cNvPr>
          <p:cNvSpPr>
            <a:spLocks xmlns:a="http://schemas.openxmlformats.org/drawingml/2006/main" noGrp="1"/>
          </p:cNvSpPr>
          <p:nvPr/>
        </p:nvSpPr>
        <p:spPr>
          <a:xfrm xmlns:a="http://schemas.openxmlformats.org/drawingml/2006/main">
            <a:off x="762000" y="171450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01</a:t>
            </a:r>
          </a:p>
        </p:txBody>
      </p:sp>
      <p:sp>
        <p:nvSpPr>
          <p:cNvPr id="7" name="conclusion-label">
            <a:extLst xmlns:a="http://schemas.openxmlformats.org/drawingml/2006/main">
              <a:ext uri="{FF2B5EF4-FFF2-40B4-BE49-F238E27FC236}">
                <a16:creationId xmlns:a16="http://schemas.microsoft.com/office/drawing/2014/main" id="{272D7D71-A4EA-4C48-BC59-C12B17A03913}"/>
              </a:ext>
            </a:extLst>
          </p:cNvPr>
          <p:cNvSpPr>
            <a:spLocks xmlns:a="http://schemas.openxmlformats.org/drawingml/2006/main" noGrp="1"/>
          </p:cNvSpPr>
          <p:nvPr/>
        </p:nvSpPr>
        <p:spPr>
          <a:xfrm xmlns:a="http://schemas.openxmlformats.org/drawingml/2006/main">
            <a:off x="1428750" y="14763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FB8"/>
                </a:solidFill>
                <a:latin typeface="Arial"/>
                <a:ea typeface="Arial"/>
                <a:cs typeface="Arial"/>
              </a:defRPr>
            </a:defPPr>
          </a:lstStyle>
          <a:p xmlns:a="http://schemas.openxmlformats.org/drawingml/2006/main">
            <a:pPr algn="l">
              <a:defRPr sz="1725" b="1">
                <a:solidFill>
                  <a:srgbClr val="009FB8"/>
                </a:solidFill>
                <a:latin typeface="Arial"/>
                <a:ea typeface="Arial"/>
                <a:cs typeface="Arial"/>
              </a:defRPr>
            </a:pPr>
            <a:r>
              <a:rPr sz="1725" b="1">
                <a:solidFill>
                  <a:srgbClr val="009FB8"/>
                </a:solidFill>
                <a:latin typeface="Arial"/>
                <a:ea typeface="Arial"/>
                <a:cs typeface="Arial"/>
              </a:rPr>
              <a:t>KẾT LUẬN</a:t>
            </a:r>
          </a:p>
        </p:txBody>
      </p:sp>
      <p:sp>
        <p:nvSpPr>
          <p:cNvPr id="8" name="conclusion">
            <a:extLst xmlns:a="http://schemas.openxmlformats.org/drawingml/2006/main">
              <a:ext uri="{FF2B5EF4-FFF2-40B4-BE49-F238E27FC236}">
                <a16:creationId xmlns:a16="http://schemas.microsoft.com/office/drawing/2014/main" id="{275BCA91-D636-41B3-ADD5-1984582FD4FD}"/>
              </a:ext>
            </a:extLst>
          </p:cNvPr>
          <p:cNvSpPr>
            <a:spLocks xmlns:a="http://schemas.openxmlformats.org/drawingml/2006/main" noGrp="1"/>
          </p:cNvSpPr>
          <p:nvPr/>
        </p:nvSpPr>
        <p:spPr>
          <a:xfrm xmlns:a="http://schemas.openxmlformats.org/drawingml/2006/main">
            <a:off x="1428750" y="1819275"/>
            <a:ext cx="1295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61B60"/>
                </a:solidFill>
                <a:latin typeface="Arial"/>
                <a:ea typeface="Arial"/>
                <a:cs typeface="Arial"/>
              </a:defRPr>
            </a:defPPr>
          </a:lstStyle>
          <a:p xmlns:a="http://schemas.openxmlformats.org/drawingml/2006/main">
            <a:pPr algn="l">
              <a:defRPr sz="1950" b="0">
                <a:solidFill>
                  <a:srgbClr val="061B60"/>
                </a:solidFill>
                <a:latin typeface="Arial"/>
                <a:ea typeface="Arial"/>
                <a:cs typeface="Arial"/>
              </a:defRPr>
            </a:pPr>
            <a:r>
              <a:rPr sz="1950" b="0">
                <a:solidFill>
                  <a:srgbClr val="061B60"/>
                </a:solidFill>
                <a:latin typeface="Arial"/>
                <a:ea typeface="Arial"/>
                <a:cs typeface="Arial"/>
              </a:rPr>
              <a:t>Đề xuất thử nghiệm SổSạch cho văn phòng kế toán ở Mức 1 trên 1.000 hóa đơn, duyệt 20%, mục tiêu giảm 50% giờ nhập ảnh và quyết định lên Mức 2 vào ngày 90 nếu qua cổng chất lượng.</a:t>
            </a:r>
          </a:p>
        </p:txBody>
      </p:sp>
      <p:sp>
        <p:nvSpPr>
          <p:cNvPr id="9" name="panel-03">
            <a:extLst xmlns:a="http://schemas.openxmlformats.org/drawingml/2006/main">
              <a:ext uri="{FF2B5EF4-FFF2-40B4-BE49-F238E27FC236}">
                <a16:creationId xmlns:a16="http://schemas.microsoft.com/office/drawing/2014/main" id="{5F282C92-AF2F-4FF3-A408-7004355AA9DB}"/>
              </a:ext>
            </a:extLst>
          </p:cNvPr>
          <p:cNvSpPr>
            <a:spLocks xmlns:a="http://schemas.openxmlformats.org/drawingml/2006/main" noGrp="1"/>
          </p:cNvSpPr>
          <p:nvPr/>
        </p:nvSpPr>
        <p:spPr>
          <a:xfrm xmlns:a="http://schemas.openxmlformats.org/drawingml/2006/main">
            <a:off x="590550" y="2724150"/>
            <a:ext cx="90011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1906">
            <a:solidFill>
              <a:srgbClr val="8090B7"/>
            </a:solidFill>
          </a:ln>
        </p:spPr>
      </p:sp>
      <p:sp>
        <p:nvSpPr>
          <p:cNvPr id="10" name="number-circle-03">
            <a:extLst xmlns:a="http://schemas.openxmlformats.org/drawingml/2006/main">
              <a:ext uri="{FF2B5EF4-FFF2-40B4-BE49-F238E27FC236}">
                <a16:creationId xmlns:a16="http://schemas.microsoft.com/office/drawing/2014/main" id="{C119B57D-3955-4CB0-8F5A-B452348C3139}"/>
              </a:ext>
            </a:extLst>
          </p:cNvPr>
          <p:cNvSpPr>
            <a:spLocks xmlns:a="http://schemas.openxmlformats.org/drawingml/2006/main" noGrp="1"/>
          </p:cNvSpPr>
          <p:nvPr/>
        </p:nvSpPr>
        <p:spPr>
          <a:xfrm xmlns:a="http://schemas.openxmlformats.org/drawingml/2006/main">
            <a:off x="742950" y="2867025"/>
            <a:ext cx="466725" cy="466725"/>
          </a:xfrm>
          <a:prstGeom xmlns:a="http://schemas.openxmlformats.org/drawingml/2006/main" prst="ellipse">
            <a:avLst/>
          </a:prstGeom>
          <a:solidFill xmlns:a="http://schemas.openxmlformats.org/drawingml/2006/main">
            <a:srgbClr val="061B60"/>
          </a:solidFill>
          <a:ln xmlns:a="http://schemas.openxmlformats.org/drawingml/2006/main" w="0">
            <a:noFill/>
          </a:ln>
        </p:spPr>
      </p:sp>
      <p:sp>
        <p:nvSpPr>
          <p:cNvPr id="11" name="number-03">
            <a:extLst xmlns:a="http://schemas.openxmlformats.org/drawingml/2006/main">
              <a:ext uri="{FF2B5EF4-FFF2-40B4-BE49-F238E27FC236}">
                <a16:creationId xmlns:a16="http://schemas.microsoft.com/office/drawing/2014/main" id="{2929EE8A-9EC2-4959-9C9F-3100A7917EDD}"/>
              </a:ext>
            </a:extLst>
          </p:cNvPr>
          <p:cNvSpPr>
            <a:spLocks xmlns:a="http://schemas.openxmlformats.org/drawingml/2006/main" noGrp="1"/>
          </p:cNvSpPr>
          <p:nvPr/>
        </p:nvSpPr>
        <p:spPr>
          <a:xfrm xmlns:a="http://schemas.openxmlformats.org/drawingml/2006/main">
            <a:off x="742950" y="2971800"/>
            <a:ext cx="466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12" name="heading-03">
            <a:extLst xmlns:a="http://schemas.openxmlformats.org/drawingml/2006/main">
              <a:ext uri="{FF2B5EF4-FFF2-40B4-BE49-F238E27FC236}">
                <a16:creationId xmlns:a16="http://schemas.microsoft.com/office/drawing/2014/main" id="{CE26438D-D6D3-440D-B9E0-1D8DF7C81F32}"/>
              </a:ext>
            </a:extLst>
          </p:cNvPr>
          <p:cNvSpPr>
            <a:spLocks xmlns:a="http://schemas.openxmlformats.org/drawingml/2006/main" noGrp="1"/>
          </p:cNvSpPr>
          <p:nvPr/>
        </p:nvSpPr>
        <p:spPr>
          <a:xfrm xmlns:a="http://schemas.openxmlformats.org/drawingml/2006/main">
            <a:off x="1381125" y="2847975"/>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61B60"/>
                </a:solidFill>
                <a:latin typeface="Arial"/>
                <a:ea typeface="Arial"/>
                <a:cs typeface="Arial"/>
              </a:defRPr>
            </a:defPPr>
          </a:lstStyle>
          <a:p xmlns:a="http://schemas.openxmlformats.org/drawingml/2006/main">
            <a:pPr algn="l">
              <a:defRPr sz="1800" b="1">
                <a:solidFill>
                  <a:srgbClr val="061B60"/>
                </a:solidFill>
                <a:latin typeface="Arial"/>
                <a:ea typeface="Arial"/>
                <a:cs typeface="Arial"/>
              </a:defRPr>
            </a:pPr>
            <a:r>
              <a:rPr sz="1800" b="1">
                <a:solidFill>
                  <a:srgbClr val="061B60"/>
                </a:solidFill>
                <a:latin typeface="Arial"/>
                <a:ea typeface="Arial"/>
                <a:cs typeface="Arial"/>
              </a:rPr>
              <a:t>CẦN GÌ</a:t>
            </a:r>
          </a:p>
        </p:txBody>
      </p:sp>
      <p:sp>
        <p:nvSpPr>
          <p:cNvPr id="13" name="body-03">
            <a:extLst xmlns:a="http://schemas.openxmlformats.org/drawingml/2006/main">
              <a:ext uri="{FF2B5EF4-FFF2-40B4-BE49-F238E27FC236}">
                <a16:creationId xmlns:a16="http://schemas.microsoft.com/office/drawing/2014/main" id="{ACE7A1A2-1A93-464B-B24B-7639F47AF12F}"/>
              </a:ext>
            </a:extLst>
          </p:cNvPr>
          <p:cNvSpPr>
            <a:spLocks xmlns:a="http://schemas.openxmlformats.org/drawingml/2006/main" noGrp="1"/>
          </p:cNvSpPr>
          <p:nvPr/>
        </p:nvSpPr>
        <p:spPr>
          <a:xfrm xmlns:a="http://schemas.openxmlformats.org/drawingml/2006/main">
            <a:off x="1381125" y="3219450"/>
            <a:ext cx="7981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061B60"/>
                </a:solidFill>
                <a:latin typeface="Arial"/>
                <a:ea typeface="Arial"/>
                <a:cs typeface="Arial"/>
              </a:defRPr>
            </a:defPPr>
          </a:lstStyle>
          <a:p xmlns:a="http://schemas.openxmlformats.org/drawingml/2006/main">
            <a:pPr algn="l">
              <a:defRPr sz="1688" b="0">
                <a:solidFill>
                  <a:srgbClr val="061B60"/>
                </a:solidFill>
                <a:latin typeface="Arial"/>
                <a:ea typeface="Arial"/>
                <a:cs typeface="Arial"/>
              </a:defRPr>
            </a:pPr>
            <a:r>
              <a:rPr sz="1688" b="0">
                <a:solidFill>
                  <a:srgbClr val="061B60"/>
                </a:solidFill>
                <a:latin typeface="Arial"/>
                <a:ea typeface="Arial"/>
                <a:cs typeface="Arial"/>
              </a:rPr>
              <a:t>Cần bộ đề 40 hóa đơn, quyền dữ liệu và kết nối phần mềm. Hạnh tối đa 3 giờ/tuần, Tùng hỗ trợ chấm. Công ty cần 5 giờ duyệt/1.000 hóa đơn, chi phí dự kiến 704.000 đồng. Biên 68,79% chỉ theo bình quân đề. Phí tích hợp cần duyệt riêng.</a:t>
            </a:r>
          </a:p>
        </p:txBody>
      </p:sp>
      <p:sp>
        <p:nvSpPr>
          <p:cNvPr id="14" name="panel-04">
            <a:extLst xmlns:a="http://schemas.openxmlformats.org/drawingml/2006/main">
              <a:ext uri="{FF2B5EF4-FFF2-40B4-BE49-F238E27FC236}">
                <a16:creationId xmlns:a16="http://schemas.microsoft.com/office/drawing/2014/main" id="{1E4193EA-9465-4606-BDFA-FEEB1B624D84}"/>
              </a:ext>
            </a:extLst>
          </p:cNvPr>
          <p:cNvSpPr>
            <a:spLocks xmlns:a="http://schemas.openxmlformats.org/drawingml/2006/main" noGrp="1"/>
          </p:cNvSpPr>
          <p:nvPr/>
        </p:nvSpPr>
        <p:spPr>
          <a:xfrm xmlns:a="http://schemas.openxmlformats.org/drawingml/2006/main">
            <a:off x="590550" y="4495800"/>
            <a:ext cx="90011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1906">
            <a:solidFill>
              <a:srgbClr val="8090B7"/>
            </a:solidFill>
          </a:ln>
        </p:spPr>
      </p:sp>
      <p:sp>
        <p:nvSpPr>
          <p:cNvPr id="15" name="number-circle-04">
            <a:extLst xmlns:a="http://schemas.openxmlformats.org/drawingml/2006/main">
              <a:ext uri="{FF2B5EF4-FFF2-40B4-BE49-F238E27FC236}">
                <a16:creationId xmlns:a16="http://schemas.microsoft.com/office/drawing/2014/main" id="{F26BBE13-5077-406C-A302-BFED0D7B5A08}"/>
              </a:ext>
            </a:extLst>
          </p:cNvPr>
          <p:cNvSpPr>
            <a:spLocks xmlns:a="http://schemas.openxmlformats.org/drawingml/2006/main" noGrp="1"/>
          </p:cNvSpPr>
          <p:nvPr/>
        </p:nvSpPr>
        <p:spPr>
          <a:xfrm xmlns:a="http://schemas.openxmlformats.org/drawingml/2006/main">
            <a:off x="742950" y="4638675"/>
            <a:ext cx="466725" cy="466725"/>
          </a:xfrm>
          <a:prstGeom xmlns:a="http://schemas.openxmlformats.org/drawingml/2006/main" prst="ellipse">
            <a:avLst/>
          </a:prstGeom>
          <a:solidFill xmlns:a="http://schemas.openxmlformats.org/drawingml/2006/main">
            <a:srgbClr val="061B60"/>
          </a:solidFill>
          <a:ln xmlns:a="http://schemas.openxmlformats.org/drawingml/2006/main" w="0">
            <a:noFill/>
          </a:ln>
        </p:spPr>
      </p:sp>
      <p:sp>
        <p:nvSpPr>
          <p:cNvPr id="16" name="number-04">
            <a:extLst xmlns:a="http://schemas.openxmlformats.org/drawingml/2006/main">
              <a:ext uri="{FF2B5EF4-FFF2-40B4-BE49-F238E27FC236}">
                <a16:creationId xmlns:a16="http://schemas.microsoft.com/office/drawing/2014/main" id="{EA8032A1-10A2-41F6-91BC-34DCD351A4F2}"/>
              </a:ext>
            </a:extLst>
          </p:cNvPr>
          <p:cNvSpPr>
            <a:spLocks xmlns:a="http://schemas.openxmlformats.org/drawingml/2006/main" noGrp="1"/>
          </p:cNvSpPr>
          <p:nvPr/>
        </p:nvSpPr>
        <p:spPr>
          <a:xfrm xmlns:a="http://schemas.openxmlformats.org/drawingml/2006/main">
            <a:off x="742950" y="4743450"/>
            <a:ext cx="466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17" name="heading-04">
            <a:extLst xmlns:a="http://schemas.openxmlformats.org/drawingml/2006/main">
              <a:ext uri="{FF2B5EF4-FFF2-40B4-BE49-F238E27FC236}">
                <a16:creationId xmlns:a16="http://schemas.microsoft.com/office/drawing/2014/main" id="{1E321080-0612-4CE2-9EE6-1DFF6A2C74EE}"/>
              </a:ext>
            </a:extLst>
          </p:cNvPr>
          <p:cNvSpPr>
            <a:spLocks xmlns:a="http://schemas.openxmlformats.org/drawingml/2006/main" noGrp="1"/>
          </p:cNvSpPr>
          <p:nvPr/>
        </p:nvSpPr>
        <p:spPr>
          <a:xfrm xmlns:a="http://schemas.openxmlformats.org/drawingml/2006/main">
            <a:off x="1381125" y="4619625"/>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61B60"/>
                </a:solidFill>
                <a:latin typeface="Arial"/>
                <a:ea typeface="Arial"/>
                <a:cs typeface="Arial"/>
              </a:defRPr>
            </a:defPPr>
          </a:lstStyle>
          <a:p xmlns:a="http://schemas.openxmlformats.org/drawingml/2006/main">
            <a:pPr algn="l">
              <a:defRPr sz="1800" b="1">
                <a:solidFill>
                  <a:srgbClr val="061B60"/>
                </a:solidFill>
                <a:latin typeface="Arial"/>
                <a:ea typeface="Arial"/>
                <a:cs typeface="Arial"/>
              </a:defRPr>
            </a:pPr>
            <a:r>
              <a:rPr sz="1800" b="1">
                <a:solidFill>
                  <a:srgbClr val="061B60"/>
                </a:solidFill>
                <a:latin typeface="Arial"/>
                <a:ea typeface="Arial"/>
                <a:cs typeface="Arial"/>
              </a:rPr>
              <a:t>RỦI RO LỚN NHẤT &amp; CÁCH XỬ LÝ</a:t>
            </a:r>
          </a:p>
        </p:txBody>
      </p:sp>
      <p:sp>
        <p:nvSpPr>
          <p:cNvPr id="18" name="body-04">
            <a:extLst xmlns:a="http://schemas.openxmlformats.org/drawingml/2006/main">
              <a:ext uri="{FF2B5EF4-FFF2-40B4-BE49-F238E27FC236}">
                <a16:creationId xmlns:a16="http://schemas.microsoft.com/office/drawing/2014/main" id="{803AF960-DC8D-4B64-9386-6F69464D199B}"/>
              </a:ext>
            </a:extLst>
          </p:cNvPr>
          <p:cNvSpPr>
            <a:spLocks xmlns:a="http://schemas.openxmlformats.org/drawingml/2006/main" noGrp="1"/>
          </p:cNvSpPr>
          <p:nvPr/>
        </p:nvSpPr>
        <p:spPr>
          <a:xfrm xmlns:a="http://schemas.openxmlformats.org/drawingml/2006/main">
            <a:off x="1381125" y="4991100"/>
            <a:ext cx="7981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61B60"/>
                </a:solidFill>
                <a:latin typeface="Arial"/>
                <a:ea typeface="Arial"/>
                <a:cs typeface="Arial"/>
              </a:defRPr>
            </a:defPPr>
          </a:lstStyle>
          <a:p xmlns:a="http://schemas.openxmlformats.org/drawingml/2006/main">
            <a:pPr algn="l">
              <a:defRPr sz="1650" b="0">
                <a:solidFill>
                  <a:srgbClr val="061B60"/>
                </a:solidFill>
                <a:latin typeface="Arial"/>
                <a:ea typeface="Arial"/>
                <a:cs typeface="Arial"/>
              </a:defRPr>
            </a:pPr>
            <a:r>
              <a:rPr sz="1650" b="0">
                <a:solidFill>
                  <a:srgbClr val="061B60"/>
                </a:solidFill>
                <a:latin typeface="Arial"/>
                <a:ea typeface="Arial"/>
                <a:cs typeface="Arial"/>
              </a:rPr>
              <a:t>Rủi ro lớn nhất: 65% doanh thu từ 30% văn phòng. Theo dõi từ thử nghiệm, dừng mở rộng nếu doanh thu dưới 3,71 triệu/văn phòng trong 2 tháng liên tiếp trên ít nhất 10 văn phòng. Chưa đủ mẫu thì giữ thử nghiệm. Kịch bản xấu hết tiền tháng 7.</a:t>
            </a:r>
          </a:p>
        </p:txBody>
      </p:sp>
      <p:sp>
        <p:nvSpPr>
          <p:cNvPr id="19" name="panel-05">
            <a:extLst xmlns:a="http://schemas.openxmlformats.org/drawingml/2006/main">
              <a:ext uri="{FF2B5EF4-FFF2-40B4-BE49-F238E27FC236}">
                <a16:creationId xmlns:a16="http://schemas.microsoft.com/office/drawing/2014/main" id="{B5C1519F-11CE-485F-BE0F-E54003FBE0FC}"/>
              </a:ext>
            </a:extLst>
          </p:cNvPr>
          <p:cNvSpPr>
            <a:spLocks xmlns:a="http://schemas.openxmlformats.org/drawingml/2006/main" noGrp="1"/>
          </p:cNvSpPr>
          <p:nvPr/>
        </p:nvSpPr>
        <p:spPr>
          <a:xfrm xmlns:a="http://schemas.openxmlformats.org/drawingml/2006/main">
            <a:off x="590550" y="6267450"/>
            <a:ext cx="9001125" cy="1457325"/>
          </a:xfrm>
          <a:prstGeom xmlns:a="http://schemas.openxmlformats.org/drawingml/2006/main" prst="roundRect">
            <a:avLst>
              <a:gd name="adj" fmla="val 5229"/>
            </a:avLst>
          </a:prstGeom>
          <a:solidFill xmlns:a="http://schemas.openxmlformats.org/drawingml/2006/main">
            <a:srgbClr val="FFFFFF"/>
          </a:solidFill>
          <a:ln xmlns:a="http://schemas.openxmlformats.org/drawingml/2006/main" w="11906">
            <a:solidFill>
              <a:srgbClr val="8090B7"/>
            </a:solidFill>
          </a:ln>
        </p:spPr>
      </p:sp>
      <p:sp>
        <p:nvSpPr>
          <p:cNvPr id="20" name="number-circle-05">
            <a:extLst xmlns:a="http://schemas.openxmlformats.org/drawingml/2006/main">
              <a:ext uri="{FF2B5EF4-FFF2-40B4-BE49-F238E27FC236}">
                <a16:creationId xmlns:a16="http://schemas.microsoft.com/office/drawing/2014/main" id="{742C7170-2FB1-41B6-A56B-AD12FA290290}"/>
              </a:ext>
            </a:extLst>
          </p:cNvPr>
          <p:cNvSpPr>
            <a:spLocks xmlns:a="http://schemas.openxmlformats.org/drawingml/2006/main" noGrp="1"/>
          </p:cNvSpPr>
          <p:nvPr/>
        </p:nvSpPr>
        <p:spPr>
          <a:xfrm xmlns:a="http://schemas.openxmlformats.org/drawingml/2006/main">
            <a:off x="742950" y="6410325"/>
            <a:ext cx="466725" cy="466725"/>
          </a:xfrm>
          <a:prstGeom xmlns:a="http://schemas.openxmlformats.org/drawingml/2006/main" prst="ellipse">
            <a:avLst/>
          </a:prstGeom>
          <a:solidFill xmlns:a="http://schemas.openxmlformats.org/drawingml/2006/main">
            <a:srgbClr val="061B60"/>
          </a:solidFill>
          <a:ln xmlns:a="http://schemas.openxmlformats.org/drawingml/2006/main" w="0">
            <a:noFill/>
          </a:ln>
        </p:spPr>
      </p:sp>
      <p:sp>
        <p:nvSpPr>
          <p:cNvPr id="21" name="number-05">
            <a:extLst xmlns:a="http://schemas.openxmlformats.org/drawingml/2006/main">
              <a:ext uri="{FF2B5EF4-FFF2-40B4-BE49-F238E27FC236}">
                <a16:creationId xmlns:a16="http://schemas.microsoft.com/office/drawing/2014/main" id="{8DF12F96-7FE5-4016-B7AC-867E152F633C}"/>
              </a:ext>
            </a:extLst>
          </p:cNvPr>
          <p:cNvSpPr>
            <a:spLocks xmlns:a="http://schemas.openxmlformats.org/drawingml/2006/main" noGrp="1"/>
          </p:cNvSpPr>
          <p:nvPr/>
        </p:nvSpPr>
        <p:spPr>
          <a:xfrm xmlns:a="http://schemas.openxmlformats.org/drawingml/2006/main">
            <a:off x="742950" y="6515100"/>
            <a:ext cx="466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05</a:t>
            </a:r>
          </a:p>
        </p:txBody>
      </p:sp>
      <p:sp>
        <p:nvSpPr>
          <p:cNvPr id="22" name="heading-05">
            <a:extLst xmlns:a="http://schemas.openxmlformats.org/drawingml/2006/main">
              <a:ext uri="{FF2B5EF4-FFF2-40B4-BE49-F238E27FC236}">
                <a16:creationId xmlns:a16="http://schemas.microsoft.com/office/drawing/2014/main" id="{3843B445-F469-459B-90ED-F67626A1D20F}"/>
              </a:ext>
            </a:extLst>
          </p:cNvPr>
          <p:cNvSpPr>
            <a:spLocks xmlns:a="http://schemas.openxmlformats.org/drawingml/2006/main" noGrp="1"/>
          </p:cNvSpPr>
          <p:nvPr/>
        </p:nvSpPr>
        <p:spPr>
          <a:xfrm xmlns:a="http://schemas.openxmlformats.org/drawingml/2006/main">
            <a:off x="1381125" y="6391275"/>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61B60"/>
                </a:solidFill>
                <a:latin typeface="Arial"/>
                <a:ea typeface="Arial"/>
                <a:cs typeface="Arial"/>
              </a:defRPr>
            </a:defPPr>
          </a:lstStyle>
          <a:p xmlns:a="http://schemas.openxmlformats.org/drawingml/2006/main">
            <a:pPr algn="l">
              <a:defRPr sz="1800" b="1">
                <a:solidFill>
                  <a:srgbClr val="061B60"/>
                </a:solidFill>
                <a:latin typeface="Arial"/>
                <a:ea typeface="Arial"/>
                <a:cs typeface="Arial"/>
              </a:defRPr>
            </a:pPr>
            <a:r>
              <a:rPr sz="1800" b="1">
                <a:solidFill>
                  <a:srgbClr val="061B60"/>
                </a:solidFill>
                <a:latin typeface="Arial"/>
                <a:ea typeface="Arial"/>
                <a:cs typeface="Arial"/>
              </a:rPr>
              <a:t>KHI NÀO XEM LẠI</a:t>
            </a:r>
          </a:p>
        </p:txBody>
      </p:sp>
      <p:sp>
        <p:nvSpPr>
          <p:cNvPr id="23" name="body-05">
            <a:extLst xmlns:a="http://schemas.openxmlformats.org/drawingml/2006/main">
              <a:ext uri="{FF2B5EF4-FFF2-40B4-BE49-F238E27FC236}">
                <a16:creationId xmlns:a16="http://schemas.microsoft.com/office/drawing/2014/main" id="{D9F1A82B-75D2-4298-B19A-7BDE09AC6A8C}"/>
              </a:ext>
            </a:extLst>
          </p:cNvPr>
          <p:cNvSpPr>
            <a:spLocks xmlns:a="http://schemas.openxmlformats.org/drawingml/2006/main" noGrp="1"/>
          </p:cNvSpPr>
          <p:nvPr/>
        </p:nvSpPr>
        <p:spPr>
          <a:xfrm xmlns:a="http://schemas.openxmlformats.org/drawingml/2006/main">
            <a:off x="1381125" y="6762750"/>
            <a:ext cx="7981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061B60"/>
                </a:solidFill>
                <a:latin typeface="Arial"/>
                <a:ea typeface="Arial"/>
                <a:cs typeface="Arial"/>
              </a:defRPr>
            </a:defPPr>
          </a:lstStyle>
          <a:p xmlns:a="http://schemas.openxmlformats.org/drawingml/2006/main">
            <a:pPr algn="l">
              <a:defRPr sz="1688" b="0">
                <a:solidFill>
                  <a:srgbClr val="061B60"/>
                </a:solidFill>
                <a:latin typeface="Arial"/>
                <a:ea typeface="Arial"/>
                <a:cs typeface="Arial"/>
              </a:defRPr>
            </a:pPr>
            <a:r>
              <a:rPr sz="1688" b="0">
                <a:solidFill>
                  <a:srgbClr val="061B60"/>
                </a:solidFill>
                <a:latin typeface="Arial"/>
                <a:ea typeface="Arial"/>
                <a:cs typeface="Arial"/>
              </a:rPr>
              <a:t>Ngày 30/60/90 và khi mô hình, giá hoặc quy định đổi: rà soát. Mức 2 cần đạt từ 95%, không tầng tụt, 0 lỗi nghiêm trọng/300 hóa đơn kiểm. Có 1 lỗi mã số thuế/tiền: ngừng tự nhập ngay. Ngưỡng mới cần kiểm chứng.</a:t>
            </a:r>
          </a:p>
        </p:txBody>
      </p:sp>
      <p:sp>
        <p:nvSpPr>
          <p:cNvPr id="24" name="roadmap-heading">
            <a:extLst xmlns:a="http://schemas.openxmlformats.org/drawingml/2006/main">
              <a:ext uri="{FF2B5EF4-FFF2-40B4-BE49-F238E27FC236}">
                <a16:creationId xmlns:a16="http://schemas.microsoft.com/office/drawing/2014/main" id="{1FC09BB8-8CA5-4535-9540-87D4F0469532}"/>
              </a:ext>
            </a:extLst>
          </p:cNvPr>
          <p:cNvSpPr>
            <a:spLocks xmlns:a="http://schemas.openxmlformats.org/drawingml/2006/main" noGrp="1"/>
          </p:cNvSpPr>
          <p:nvPr/>
        </p:nvSpPr>
        <p:spPr>
          <a:xfrm xmlns:a="http://schemas.openxmlformats.org/drawingml/2006/main">
            <a:off x="9944100" y="27241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B60"/>
                </a:solidFill>
                <a:latin typeface="Arial"/>
                <a:ea typeface="Arial"/>
                <a:cs typeface="Arial"/>
              </a:defRPr>
            </a:defPPr>
          </a:lstStyle>
          <a:p xmlns:a="http://schemas.openxmlformats.org/drawingml/2006/main">
            <a:pPr algn="l">
              <a:defRPr sz="2100" b="1">
                <a:solidFill>
                  <a:srgbClr val="061B60"/>
                </a:solidFill>
                <a:latin typeface="Arial"/>
                <a:ea typeface="Arial"/>
                <a:cs typeface="Arial"/>
              </a:defRPr>
            </a:pPr>
            <a:r>
              <a:rPr sz="2100" b="1">
                <a:solidFill>
                  <a:srgbClr val="061B60"/>
                </a:solidFill>
                <a:latin typeface="Arial"/>
                <a:ea typeface="Arial"/>
                <a:cs typeface="Arial"/>
              </a:rPr>
              <a:t>02  3 VIỆC CHÍNH</a:t>
            </a:r>
          </a:p>
        </p:txBody>
      </p:sp>
      <p:sp>
        <p:nvSpPr>
          <p:cNvPr id="25" name="stage-0">
            <a:extLst xmlns:a="http://schemas.openxmlformats.org/drawingml/2006/main">
              <a:ext uri="{FF2B5EF4-FFF2-40B4-BE49-F238E27FC236}">
                <a16:creationId xmlns:a16="http://schemas.microsoft.com/office/drawing/2014/main" id="{563F86DD-2FEB-43D9-91D6-38608828AC98}"/>
              </a:ext>
            </a:extLst>
          </p:cNvPr>
          <p:cNvSpPr>
            <a:spLocks xmlns:a="http://schemas.openxmlformats.org/drawingml/2006/main" noGrp="1"/>
          </p:cNvSpPr>
          <p:nvPr/>
        </p:nvSpPr>
        <p:spPr>
          <a:xfrm xmlns:a="http://schemas.openxmlformats.org/drawingml/2006/main">
            <a:off x="9944100" y="3286125"/>
            <a:ext cx="4695825" cy="1200150"/>
          </a:xfrm>
          <a:prstGeom xmlns:a="http://schemas.openxmlformats.org/drawingml/2006/main" prst="roundRect">
            <a:avLst>
              <a:gd name="adj" fmla="val 6349"/>
            </a:avLst>
          </a:prstGeom>
          <a:solidFill xmlns:a="http://schemas.openxmlformats.org/drawingml/2006/main">
            <a:srgbClr val="061B60"/>
          </a:solidFill>
          <a:ln xmlns:a="http://schemas.openxmlformats.org/drawingml/2006/main" w="0">
            <a:noFill/>
          </a:ln>
        </p:spPr>
      </p:sp>
      <p:sp>
        <p:nvSpPr>
          <p:cNvPr id="26" name="stage-period-0">
            <a:extLst xmlns:a="http://schemas.openxmlformats.org/drawingml/2006/main">
              <a:ext uri="{FF2B5EF4-FFF2-40B4-BE49-F238E27FC236}">
                <a16:creationId xmlns:a16="http://schemas.microsoft.com/office/drawing/2014/main" id="{806DD89E-D99B-43AA-A2EB-B1C8E1E01BED}"/>
              </a:ext>
            </a:extLst>
          </p:cNvPr>
          <p:cNvSpPr>
            <a:spLocks xmlns:a="http://schemas.openxmlformats.org/drawingml/2006/main" noGrp="1"/>
          </p:cNvSpPr>
          <p:nvPr/>
        </p:nvSpPr>
        <p:spPr>
          <a:xfrm xmlns:a="http://schemas.openxmlformats.org/drawingml/2006/main">
            <a:off x="10163175" y="3419475"/>
            <a:ext cx="4257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0–3 THÁNG</a:t>
            </a:r>
          </a:p>
        </p:txBody>
      </p:sp>
      <p:sp>
        <p:nvSpPr>
          <p:cNvPr id="27" name="stage-body-0">
            <a:extLst xmlns:a="http://schemas.openxmlformats.org/drawingml/2006/main">
              <a:ext uri="{FF2B5EF4-FFF2-40B4-BE49-F238E27FC236}">
                <a16:creationId xmlns:a16="http://schemas.microsoft.com/office/drawing/2014/main" id="{E55109EE-8DB7-4F65-8EB1-43494ED2A621}"/>
              </a:ext>
            </a:extLst>
          </p:cNvPr>
          <p:cNvSpPr>
            <a:spLocks xmlns:a="http://schemas.openxmlformats.org/drawingml/2006/main" noGrp="1"/>
          </p:cNvSpPr>
          <p:nvPr/>
        </p:nvSpPr>
        <p:spPr>
          <a:xfrm xmlns:a="http://schemas.openxmlformats.org/drawingml/2006/main">
            <a:off x="10163175" y="3800475"/>
            <a:ext cx="4257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FFFFFF"/>
                </a:solidFill>
                <a:latin typeface="Arial"/>
                <a:ea typeface="Arial"/>
                <a:cs typeface="Arial"/>
              </a:defRPr>
            </a:defPPr>
          </a:lstStyle>
          <a:p xmlns:a="http://schemas.openxmlformats.org/drawingml/2006/main">
            <a:pPr algn="ctr">
              <a:defRPr sz="1763" b="0">
                <a:solidFill>
                  <a:srgbClr val="FFFFFF"/>
                </a:solidFill>
                <a:latin typeface="Arial"/>
                <a:ea typeface="Arial"/>
                <a:cs typeface="Arial"/>
              </a:defRPr>
            </a:pPr>
            <a:r>
              <a:rPr sz="1763" b="0">
                <a:solidFill>
                  <a:srgbClr val="FFFFFF"/>
                </a:solidFill>
                <a:latin typeface="Arial"/>
                <a:ea typeface="Arial"/>
                <a:cs typeface="Arial"/>
              </a:rPr>
              <a:t>đọc ảnh, gắn cờ và đối chiếu mã số thuế.</a:t>
            </a:r>
          </a:p>
        </p:txBody>
      </p:sp>
      <p:sp>
        <p:nvSpPr>
          <p:cNvPr id="28" name="stage-connector-0">
            <a:extLst xmlns:a="http://schemas.openxmlformats.org/drawingml/2006/main">
              <a:ext uri="{FF2B5EF4-FFF2-40B4-BE49-F238E27FC236}">
                <a16:creationId xmlns:a16="http://schemas.microsoft.com/office/drawing/2014/main" id="{D0F16E25-C7DB-4301-893E-CBB4F73C12BA}"/>
              </a:ext>
            </a:extLst>
          </p:cNvPr>
          <p:cNvSpPr>
            <a:spLocks xmlns:a="http://schemas.openxmlformats.org/drawingml/2006/main" noGrp="1"/>
          </p:cNvSpPr>
          <p:nvPr/>
        </p:nvSpPr>
        <p:spPr>
          <a:xfrm xmlns:a="http://schemas.openxmlformats.org/drawingml/2006/main">
            <a:off x="12172950" y="4524375"/>
            <a:ext cx="228600" cy="114300"/>
          </a:xfrm>
          <a:prstGeom xmlns:a="http://schemas.openxmlformats.org/drawingml/2006/main" prst="downArrow">
            <a:avLst/>
          </a:prstGeom>
          <a:solidFill xmlns:a="http://schemas.openxmlformats.org/drawingml/2006/main">
            <a:srgbClr val="81D8E5"/>
          </a:solidFill>
          <a:ln xmlns:a="http://schemas.openxmlformats.org/drawingml/2006/main" w="0">
            <a:noFill/>
          </a:ln>
        </p:spPr>
      </p:sp>
      <p:sp>
        <p:nvSpPr>
          <p:cNvPr id="29" name="stage-1">
            <a:extLst xmlns:a="http://schemas.openxmlformats.org/drawingml/2006/main">
              <a:ext uri="{FF2B5EF4-FFF2-40B4-BE49-F238E27FC236}">
                <a16:creationId xmlns:a16="http://schemas.microsoft.com/office/drawing/2014/main" id="{0740F7E6-A007-4B04-A510-22AA9F384C00}"/>
              </a:ext>
            </a:extLst>
          </p:cNvPr>
          <p:cNvSpPr>
            <a:spLocks xmlns:a="http://schemas.openxmlformats.org/drawingml/2006/main" noGrp="1"/>
          </p:cNvSpPr>
          <p:nvPr/>
        </p:nvSpPr>
        <p:spPr>
          <a:xfrm xmlns:a="http://schemas.openxmlformats.org/drawingml/2006/main">
            <a:off x="9944100" y="4657725"/>
            <a:ext cx="4695825" cy="1200150"/>
          </a:xfrm>
          <a:prstGeom xmlns:a="http://schemas.openxmlformats.org/drawingml/2006/main" prst="roundRect">
            <a:avLst>
              <a:gd name="adj" fmla="val 6349"/>
            </a:avLst>
          </a:prstGeom>
          <a:solidFill xmlns:a="http://schemas.openxmlformats.org/drawingml/2006/main">
            <a:srgbClr val="1552A4"/>
          </a:solidFill>
          <a:ln xmlns:a="http://schemas.openxmlformats.org/drawingml/2006/main" w="0">
            <a:noFill/>
          </a:ln>
        </p:spPr>
      </p:sp>
      <p:sp>
        <p:nvSpPr>
          <p:cNvPr id="30" name="stage-period-1">
            <a:extLst xmlns:a="http://schemas.openxmlformats.org/drawingml/2006/main">
              <a:ext uri="{FF2B5EF4-FFF2-40B4-BE49-F238E27FC236}">
                <a16:creationId xmlns:a16="http://schemas.microsoft.com/office/drawing/2014/main" id="{E98659A1-E2E7-42E5-A373-BB7752A252D3}"/>
              </a:ext>
            </a:extLst>
          </p:cNvPr>
          <p:cNvSpPr>
            <a:spLocks xmlns:a="http://schemas.openxmlformats.org/drawingml/2006/main" noGrp="1"/>
          </p:cNvSpPr>
          <p:nvPr/>
        </p:nvSpPr>
        <p:spPr>
          <a:xfrm xmlns:a="http://schemas.openxmlformats.org/drawingml/2006/main">
            <a:off x="10163175" y="4791075"/>
            <a:ext cx="4257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3–6 THÁNG</a:t>
            </a:r>
          </a:p>
        </p:txBody>
      </p:sp>
      <p:sp>
        <p:nvSpPr>
          <p:cNvPr id="31" name="stage-body-1">
            <a:extLst xmlns:a="http://schemas.openxmlformats.org/drawingml/2006/main">
              <a:ext uri="{FF2B5EF4-FFF2-40B4-BE49-F238E27FC236}">
                <a16:creationId xmlns:a16="http://schemas.microsoft.com/office/drawing/2014/main" id="{CF3D7880-3C4F-424C-848E-B0FA28D1CDCD}"/>
              </a:ext>
            </a:extLst>
          </p:cNvPr>
          <p:cNvSpPr>
            <a:spLocks xmlns:a="http://schemas.openxmlformats.org/drawingml/2006/main" noGrp="1"/>
          </p:cNvSpPr>
          <p:nvPr/>
        </p:nvSpPr>
        <p:spPr>
          <a:xfrm xmlns:a="http://schemas.openxmlformats.org/drawingml/2006/main">
            <a:off x="10163175" y="5172075"/>
            <a:ext cx="4257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FFFFFF"/>
                </a:solidFill>
                <a:latin typeface="Arial"/>
                <a:ea typeface="Arial"/>
                <a:cs typeface="Arial"/>
              </a:defRPr>
            </a:defPPr>
          </a:lstStyle>
          <a:p xmlns:a="http://schemas.openxmlformats.org/drawingml/2006/main">
            <a:pPr algn="ctr">
              <a:defRPr sz="1763" b="0">
                <a:solidFill>
                  <a:srgbClr val="FFFFFF"/>
                </a:solidFill>
                <a:latin typeface="Arial"/>
                <a:ea typeface="Arial"/>
                <a:cs typeface="Arial"/>
              </a:defRPr>
            </a:pPr>
            <a:r>
              <a:rPr sz="1763" b="0">
                <a:solidFill>
                  <a:srgbClr val="FFFFFF"/>
                </a:solidFill>
                <a:latin typeface="Arial"/>
                <a:ea typeface="Arial"/>
                <a:cs typeface="Arial"/>
              </a:rPr>
              <a:t>giảm tỷ lệ duyệt sau cổng Mức 2.</a:t>
            </a:r>
          </a:p>
        </p:txBody>
      </p:sp>
      <p:sp>
        <p:nvSpPr>
          <p:cNvPr id="32" name="stage-connector-1">
            <a:extLst xmlns:a="http://schemas.openxmlformats.org/drawingml/2006/main">
              <a:ext uri="{FF2B5EF4-FFF2-40B4-BE49-F238E27FC236}">
                <a16:creationId xmlns:a16="http://schemas.microsoft.com/office/drawing/2014/main" id="{0E4F5FC2-10D9-4F00-A063-83D313D54093}"/>
              </a:ext>
            </a:extLst>
          </p:cNvPr>
          <p:cNvSpPr>
            <a:spLocks xmlns:a="http://schemas.openxmlformats.org/drawingml/2006/main" noGrp="1"/>
          </p:cNvSpPr>
          <p:nvPr/>
        </p:nvSpPr>
        <p:spPr>
          <a:xfrm xmlns:a="http://schemas.openxmlformats.org/drawingml/2006/main">
            <a:off x="12172950" y="5895975"/>
            <a:ext cx="228600" cy="114300"/>
          </a:xfrm>
          <a:prstGeom xmlns:a="http://schemas.openxmlformats.org/drawingml/2006/main" prst="downArrow">
            <a:avLst/>
          </a:prstGeom>
          <a:solidFill xmlns:a="http://schemas.openxmlformats.org/drawingml/2006/main">
            <a:srgbClr val="81D8E5"/>
          </a:solidFill>
          <a:ln xmlns:a="http://schemas.openxmlformats.org/drawingml/2006/main" w="0">
            <a:noFill/>
          </a:ln>
        </p:spPr>
      </p:sp>
      <p:sp>
        <p:nvSpPr>
          <p:cNvPr id="33" name="stage-2">
            <a:extLst xmlns:a="http://schemas.openxmlformats.org/drawingml/2006/main">
              <a:ext uri="{FF2B5EF4-FFF2-40B4-BE49-F238E27FC236}">
                <a16:creationId xmlns:a16="http://schemas.microsoft.com/office/drawing/2014/main" id="{EF76FA58-868F-4B11-8BC7-BB0C208AD839}"/>
              </a:ext>
            </a:extLst>
          </p:cNvPr>
          <p:cNvSpPr>
            <a:spLocks xmlns:a="http://schemas.openxmlformats.org/drawingml/2006/main" noGrp="1"/>
          </p:cNvSpPr>
          <p:nvPr/>
        </p:nvSpPr>
        <p:spPr>
          <a:xfrm xmlns:a="http://schemas.openxmlformats.org/drawingml/2006/main">
            <a:off x="9944100" y="6029325"/>
            <a:ext cx="4695825" cy="1200150"/>
          </a:xfrm>
          <a:prstGeom xmlns:a="http://schemas.openxmlformats.org/drawingml/2006/main" prst="roundRect">
            <a:avLst>
              <a:gd name="adj" fmla="val 6349"/>
            </a:avLst>
          </a:prstGeom>
          <a:solidFill xmlns:a="http://schemas.openxmlformats.org/drawingml/2006/main">
            <a:srgbClr val="009FB8"/>
          </a:solidFill>
          <a:ln xmlns:a="http://schemas.openxmlformats.org/drawingml/2006/main" w="0">
            <a:noFill/>
          </a:ln>
        </p:spPr>
      </p:sp>
      <p:sp>
        <p:nvSpPr>
          <p:cNvPr id="34" name="stage-period-2">
            <a:extLst xmlns:a="http://schemas.openxmlformats.org/drawingml/2006/main">
              <a:ext uri="{FF2B5EF4-FFF2-40B4-BE49-F238E27FC236}">
                <a16:creationId xmlns:a16="http://schemas.microsoft.com/office/drawing/2014/main" id="{1B94317D-3A3E-43E3-9D93-D01E5714633A}"/>
              </a:ext>
            </a:extLst>
          </p:cNvPr>
          <p:cNvSpPr>
            <a:spLocks xmlns:a="http://schemas.openxmlformats.org/drawingml/2006/main" noGrp="1"/>
          </p:cNvSpPr>
          <p:nvPr/>
        </p:nvSpPr>
        <p:spPr>
          <a:xfrm xmlns:a="http://schemas.openxmlformats.org/drawingml/2006/main">
            <a:off x="10163175" y="6162675"/>
            <a:ext cx="4257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6–12 THÁNG</a:t>
            </a:r>
          </a:p>
        </p:txBody>
      </p:sp>
      <p:sp>
        <p:nvSpPr>
          <p:cNvPr id="35" name="stage-body-2">
            <a:extLst xmlns:a="http://schemas.openxmlformats.org/drawingml/2006/main">
              <a:ext uri="{FF2B5EF4-FFF2-40B4-BE49-F238E27FC236}">
                <a16:creationId xmlns:a16="http://schemas.microsoft.com/office/drawing/2014/main" id="{BE651611-75B1-401D-BC2E-388174A04C4C}"/>
              </a:ext>
            </a:extLst>
          </p:cNvPr>
          <p:cNvSpPr>
            <a:spLocks xmlns:a="http://schemas.openxmlformats.org/drawingml/2006/main" noGrp="1"/>
          </p:cNvSpPr>
          <p:nvPr/>
        </p:nvSpPr>
        <p:spPr>
          <a:xfrm xmlns:a="http://schemas.openxmlformats.org/drawingml/2006/main">
            <a:off x="10163175" y="6543675"/>
            <a:ext cx="4257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FFFFFF"/>
                </a:solidFill>
                <a:latin typeface="Arial"/>
                <a:ea typeface="Arial"/>
                <a:cs typeface="Arial"/>
              </a:defRPr>
            </a:defPPr>
          </a:lstStyle>
          <a:p xmlns:a="http://schemas.openxmlformats.org/drawingml/2006/main">
            <a:pPr algn="ctr">
              <a:defRPr sz="1763" b="0">
                <a:solidFill>
                  <a:srgbClr val="FFFFFF"/>
                </a:solidFill>
                <a:latin typeface="Arial"/>
                <a:ea typeface="Arial"/>
                <a:cs typeface="Arial"/>
              </a:defRPr>
            </a:pPr>
            <a:r>
              <a:rPr sz="1763" b="0">
                <a:solidFill>
                  <a:srgbClr val="FFFFFF"/>
                </a:solidFill>
                <a:latin typeface="Arial"/>
                <a:ea typeface="Arial"/>
                <a:cs typeface="Arial"/>
              </a:rPr>
              <a:t>mở rộng có điều kiện, khám phá hạch toán khi đủ dữ liệu.</a:t>
            </a:r>
          </a:p>
        </p:txBody>
      </p:sp>
      <p:sp>
        <p:nvSpPr>
          <p:cNvPr id="36" name="identity">
            <a:extLst xmlns:a="http://schemas.openxmlformats.org/drawingml/2006/main">
              <a:ext uri="{FF2B5EF4-FFF2-40B4-BE49-F238E27FC236}">
                <a16:creationId xmlns:a16="http://schemas.microsoft.com/office/drawing/2014/main" id="{635B81A9-D2A8-4C98-AD2F-10DD0CD737E0}"/>
              </a:ext>
            </a:extLst>
          </p:cNvPr>
          <p:cNvSpPr>
            <a:spLocks xmlns:a="http://schemas.openxmlformats.org/drawingml/2006/main" noGrp="1"/>
          </p:cNvSpPr>
          <p:nvPr/>
        </p:nvSpPr>
        <p:spPr>
          <a:xfrm xmlns:a="http://schemas.openxmlformats.org/drawingml/2006/main">
            <a:off x="590550" y="8048625"/>
            <a:ext cx="1304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3D5481"/>
                </a:solidFill>
                <a:latin typeface="Arial"/>
                <a:ea typeface="Arial"/>
                <a:cs typeface="Arial"/>
              </a:defRPr>
            </a:defPPr>
          </a:lstStyle>
          <a:p xmlns:a="http://schemas.openxmlformats.org/drawingml/2006/main">
            <a:pPr algn="l">
              <a:defRPr sz="1350" b="0">
                <a:solidFill>
                  <a:srgbClr val="3D5481"/>
                </a:solidFill>
                <a:latin typeface="Arial"/>
                <a:ea typeface="Arial"/>
                <a:cs typeface="Arial"/>
              </a:defRPr>
            </a:pPr>
            <a:r>
              <a:rPr sz="1350" b="0">
                <a:solidFill>
                  <a:srgbClr val="3D5481"/>
                </a:solidFill>
                <a:latin typeface="Arial"/>
                <a:ea typeface="Arial"/>
                <a:cs typeface="Arial"/>
              </a:rPr>
              <a:t>Dương Thị Hồng Viên  ·  2A202602385  ·  VinUni AI Thực Chiến – Cohort IV</a:t>
            </a:r>
          </a:p>
        </p:txBody>
      </p:sp>
    </p:spTree>
    <p:extLst>
      <p:ext uri="{BB962C8B-B14F-4D97-AF65-F5344CB8AC3E}">
        <p14:creationId xmlns:p14="http://schemas.microsoft.com/office/powerpoint/2010/main" val="1720074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2026-10-16T15:49:23.3360000Z</dcterms:created>
  <dcterms:modified xsi:type="dcterms:W3CDTF">2026-10-16T15:49:23.3360000Z</dcterms:modified>
</coreProperties>
</file>